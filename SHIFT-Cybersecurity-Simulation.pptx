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SHIFT Cybersecurity Breach Simulation. You are the senior leadership team of Centre Hospitalier Sainte-Claire, a 350-bed regional hospital in southeastern France. 1,200 staff. 287 inpatients. The only Level 1 trauma center and neonatal ICU in the region. It is Monday. 6:12 AM. All systems are operational. That is about to change.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6:12 AM. A night-shift nurse in the ICU reports that the electronic health record is frozen on three workstations. 6:15. A second nurse reports the same issue in the maternity unit. She cannot access patient birth plans. 6:18. The IT help desk receives twelve simultaneous calls. The lab system is showing error messages. 6:22. The pharmacy technician reports that automated dispensing cabinets are unresponsive. 6:24. Radiology PACS displays a ransom message. Your files are encrypted. Contact us for the decryption key. You have 72 hours.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6:26. The night IT administrator attempts to restart the servers. The same ransom message appears on four of six core servers. 6:30. The pharmacy dispensing system is confirmed offline. Medication cabinets are locked hospital-wide. 6:33. The patient portal goes dark. 47 telehealth appointments were scheduled for today. 6:35. The scheduling system is unresponsive. 142 outpatient appointments cannot be confirmed. 6:38. Billing and revenue cycle, encrypted. No claims can be submitted. 6:40. IT Security confirms: ransomware, a LockBit variant, has encrypted servers across the EHR, lab system, PACS, pharmacy, and billing. 6:42. Forensic log review reveals that the initial access occurred eleven days ago, through a phishing email sent to a radiology technician.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6:45. Email servers are compromised. Internal communication is now limited to phone, in-person, and personal devices. 6:48. The nurse call system is functioning but degraded. Some units report delays. 6:50. Badge access is intermittent. The pharmacy and server room cannot be secured electronically. 6:55. The 7 AM shift change begins. More than 400 day-shift staff are arriving to a hospital in crisis. Most have no information. 7:00. The Hospital Incident Command System is activated. 7:05. ANSSI, France's national cybersecurity agency, has been contacted. They estimate a forensics team can arrive in 6 to 8 hours. All major clinical systems are down.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This is your first team discussion. You are the hospital's crisis leadership team. It is 7:05 AM. Discuss with your team. First: What is your first action? Do you activate downtime procedures or isolate the network? Second: How do you communicate to 1,200 staff with no email? Third: 15 ICU patients are on smart pump drips. 8 women are in labor. 12 surgeries are scheduled. What is your patient safety strategy? Fourth: Who do you call first? Police, insurance, the regulator, or the board? Discuss on your feet. Then return to your device to log your decisions.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Downtime operations. Monday 8 AM through Tuesday 6 AM. Hours 2 through 24. All clinical systems are operating manually. Every medication administration. Every patient identification check. Every lab order. Every clinical note. On paper. 287 inpatients. 42 in the ICU. 8 in maternity. 14 patients named Martin. Zero electronic systems online.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Inject event. Hour 4. Near-miss medication event. A nurse on the medical-surgical floor reports a near-miss. Without barcode scanning, a patient with a similar name, Martin, Jean-Pierre, versus Martin, Jean-Paul, was almost given the wrong medication. The manual five-rights check caught the error. But staff are shaken, and they are requesting additional safety protocols.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Team discussion. A near-miss just occurred. Your staff are scared. From your role's perspective, what is the immediate response? How do you prevent the next one from being an actual error? Discuss, then log your decision in the student app.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Inject event. Hour 8. Ambulance diversion request. The Emergency Department is overwhelmed. Without electronic triage, patient tracking, or access to prior medical histories, ED wait times have tripled. The ED Medical Director is requesting ambulance diversion. However, the nearest Level 1 trauma center is 45 minutes away. Your hospital has the only neonatal ICU in the region. And right now, a pregnant woman at 36 weeks is in an ambulance headed toward you.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Team discussion. An ambulance with a pregnant patient is en route. Your ED is overwhelmed. Do you approve full diversion? Partial diversion? Or deny it entirely? And what do you tell the paramedics in that ambulance right now? Discuss, then log your decision.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Inject event. Hour 13. The 7 PM shift handoff. The evening shift is arriving. Day-shift staff have been managing the crisis for thirteen hours. Evening staff have received minimal information. You must hand off: Current status of 287 inpatients, all documented on paper. Active downtime procedures and which workflows are in place. Outstanding issues, including the medication near-miss and the ambulance diversion status. The location of all paper records generated today. And the emotional state of your day-shift staff. Several nurses are in tears.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Team discussion. Evening staff are arriving. They know nothing about paper processes. How do you structure the handoff? Do you keep your exhausted day-shift staff longer, or let them go? Discuss, then log your decision.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Inject event. Hour 18. Paper records crisis. After 18 hours of downtime, an estimated 3,200 pages of handwritten records have accumulated across the hospital. A quality audit of 50 paper records reveals: 34 percent are missing the patient's date of birth. 22 percent have no allergies documented. 18 percent have illegible handwriting in at least one section. 11 percent cannot be matched to a specific patient with certainty. And 4 records appear to be duplicates for the same patient.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Team discussion. 3,200 pages of paper. 11 percent unmatched to any patient. Illegible handwriting. Exhausted staff. What is your data management strategy? And how will you handle back-entry when systems return? Discuss, then log your decision. After this, we take a break.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 20 minutes. The crisis does not pause, but you can. When you return, it will be Hour 24. The media are calling. Families are arriving. Staff are reaching their breaking point. The pressure is about to intensify.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2. Escalation and stakeholder pressure. Tuesday. Hours 24 through 48. 24 hours of downtime. 3,200 paper records. 23 surgeries canceled. 14 patients diverted. An estimated 240,000 euros in lost revenue. And now, the external pressure begins.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Inject event. Hour 26. The story breaks. France 3 Auvergne-Rhone-Alpes, noon broadcast. Quote: Centre Hospitalier Sainte-Claire has been operating without its computer systems for over 24 hours following what sources describe as a major cyberattack. Ambulances have been diverted from the hospital's emergency department since yesterday morning. A hospital spokesperson confirmed a technology disruption but declined to provide details. Patient advocacy groups are demanding transparency. The regional health authority says it is monitoring the situation. End quote. The phone is ringing. Media, patients, families. How do you respond?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Team discussion. The story is on television. Your phone lines are overwhelmed. Do you hold a press conference? Issue a written statement? Go fully transparent? Who is the spokesperson? What is the one key message? Discuss, then log your decision.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Inject event. Hour 28. A family demands answers. A man approaches the hospital information desk. He is visibly upset. His mother, 82 years old, was admitted three days ago for pneumonia. He has been unable to reach anyone by phone. The patient portal is down. He drove 90 minutes to get here. He says: I cannot access my mother's records. I don't know what medications she's on. The nurse told me they are using paper. Paper! What year is this? I want to know if my mother's personal information has been stolen. I want to speak to whoever is in charge. And if I don't get answers, I am calling my lawyer and the press.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Team discussion. This man represents hundreds of families with the same fears. Who meets with him? What information can you share? He is threatening legal action and media contact. How do you de-escalate? Discuss, then log your decision.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Inject event. Hour 32. Staff morale crisis. Voicemail from Marie-Claire, charge nurse, Unit 3B. Quote: This is Marie-Claire on 3B. I need to tell you that my nurses are done. We have been working 14-hour shifts on paper for two days. Three of my nurses called in sick today. I think they're not actually sick. They just can't take it anymore. The ones who are here are making mistakes. Small ones, so far. But I'm scared. We had another near-miss. Wrong dose calculated by hand because we don't have the EHR doing the math for us. I need more staff. I need someone to acknowledge what we're going through. And I need to know when this is going to end. Please call me back. End quote.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Team discussion. Marie-Claire is one of your best charge nurses. If she breaks, the unit breaks. Do you request mutual aid? Reduce your patient census? Deploy crisis counseling? Shorten shifts? What does each of those cost you? Discuss, then log your decision.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Inject event. Hour 34. Social media firestorm. Multiple posts are circulating. HealthWatch FR, with 12,000 followers, writes: Thread. My aunt is a nurse at Sainte-Claire. She says they've been writing everything by hand for two days. No access to patient histories. No medication barcodes. She's terrified of making an error. This is a patient safety emergency and no one is talking about it. Patient Rights FR, with 34,000 followers, writes: If Sainte-Claire has had 180,000 patient records stolen, where is the CNIL notification? GDPR requires transparency. Silence is not acceptable. And a verified physician, not affiliated with the hospital, writes: The Sainte-Claire situation is exactly what we've been warning about. French hospitals are chronically under-invested in cybersecurity. This will happen again. And next time, patients may die.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Team discussion. A nurse's family member posted. Advocacy groups are demanding answers. A doctor is predicting patient harm. Do you post an official response on social media? Ignore it? Ask the employee to have the post removed? Hire a crisis communications firm? Discuss, then log your decision.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Inject event. Hour 36. Inter-department conflict. Scene: the incident command center. The Chief of Surgery and the HIM Director are in a heated argument. Surgery wants to resume elective procedures tomorrow morning. Patients are at medical risk from delay. The HIM Director insists that without electronic surgical checklists, specimen labeling systems, and proper consent documentation workflows, resuming surgery on paper is an unacceptable risk. The Chief of Surgery says: We operated for decades before computers. I am not letting a computer problem endanger my patients by delaying their care. The HIM Director responds: And we had higher error rates for decades before computers. We are not going backward. Every mislabeled specimen is a potential catastrophe. Both are right. Both are wrong. The Incident Commander must decide.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Team discussion. Surgery versus HIM. Patient harm from delay versus patient harm from error. Do you resume elective surgery on paper? Delay until systems return? Find a compromise? Convene a governance meeting? Discuss, then log your decision.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3. Critical decisions. Wednesday. Hours 48 through 72. The ransom deadline is approaching. The GDPR clock is ticking. 48 hours of downtime. 6,400 paper records. 38 surgeries canceled. 480,000 euros in estimated revenue loss. 89 patient complaints. The hardest decisions of this crisis are ahead.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Inject event. Hour 50. The ransom demand. The attackers have made formal contact through an encrypted channel. They demand 2.5 million euros in cryptocurrency within 48 hours. They claim to have stolen 180,000 patient records, including diagnoses, medications, national identification numbers, and in some cases, mental health and HIV status records. They provide a sample of 500 records as proof. Your IT team confirms: these are genuine. They threaten to publish all data on the dark web if payment is not received. Your cyber insurance policy covers 1 million euros. ANSSI officially advises against paying. Under French law, the Loi LOPMI of 2023, a police report must be filed within 72 hours of any ransom payment to be eligible for insurance reimbursement. 2.5 million euros. 180,000 patients. Mental health records. HIV status. What do you recommend to the board?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This is the hardest decision in the simulation. Take your time with this one. Do you pay? Negotiate? Refuse? Escalate to the government? Consider the ethical dimensions. Who bears the harm in each scenario? Is it ethical to use hospital funds to pay criminals? Is it ethical not to pay, if patient data will be published? Discuss thoroughly, then log your decision and your reasoning.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Inject event. Hour 58. GDPR 72-hour notification deadline. Under GDPR Article 33, you must notify the CNIL, France's data protection authority, within 72 hours of becoming aware of a personal data breach. The clock started when the breach was confirmed at 6:40 Monday. You are now at hour 58. You have 14 hours remaining. The forensics team has established that the attackers had network access for 11 days before encryption. Large data transfers to external servers have been confirmed. But the exact number of records exfiltrated is still unknown. The 500-record sample provided by the attackers has been verified as genuine. The breach likely includes patient demographics, diagnoses, medications, lab results, and for some patients, mental health records. 14 hours remain on the clock. Incomplete information. 180,000 potentially affected patients.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Team discussion. 14 hours on the clock. Incomplete information. Do you file a preliminary notification now and supplement later? Wait for the deadline and file the most complete report possible? And critically: how do you notify 180,000 patients that their health data may have been stolen? Consider: literacy levels. Elderly patients. Patients with mental health records who may face stigma. Domestic violence survivors whose addresses are now potentially exposed. Discuss, then log your decision.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Inject event. Hour 64. System restoration strategy. The IT team presents four options. Option A: Restore from a 48-hour-old backup. The EHR can be operational in 12 to 18 hours. But you lose 48 hours of pre-breach data, plus everything documented on paper during downtime. The backup is verified clean. Back-entry will take 3 to 4 weeks. Option B: Attempt to decrypt and clean the current systems. This could take 5 to 10 additional days. It preserves all pre-breach data, but carries a 15 to 20 percent risk of reinfection. The forensics team recommends against this option. Option C: A new, clean EHR instance on new hardware. Operational in 24 to 36 hours. Zero reinfection risk. But it requires manual entry of all active patient data. Historical data would only be available later. Option D: A hybrid phased approach. Phase 1: stand up a clean instance for active inpatients in 24 hours. Phase 2: restore the backup in a parallel environment over one week. Phase 3: merge, reconcile, and back-enter paper records over two to four weeks. The most complex option, but the most balanced. Speed versus data preservation versus security. Who decides?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Final team discussion. Four options. Each has costs. Each has risks. Which restoration path do you choose? Is this a technical decision? A clinical decision? A financial decision? A data integrity decision? Who has the final say? Discuss, then log your final decision.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Recovery planning. Thursday. Hour 72 and beyond. Partial systems restoration is in progress. Some systems are coming back online. But the work is far from over. The systems will come back in days. The trust takes months. The lessons last careers. In your student app, complete the recovery planning phase. Prioritize the back-entry of paper records. Plan your trust recovery strategy. Assess your hospital's preparedness. Write your after-action summary.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of simulation. Thank you for your work over the past three hours. Export your team reports from the student app. Prepare to share your most difficult decision and what you learned. The two-hour debrief will follow.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E94560"/>
                </a:solidFill>
                <a:latin typeface="Calibri"/>
              </a:defRPr>
            </a:pPr>
            <a:r>
              <a:t>SHIFT CYBERSECURITY BREACH SIMULATION</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A0A0C0"/>
                </a:solidFill>
                <a:latin typeface="Calibri"/>
              </a:defRPr>
            </a:pPr>
            <a:r>
              <a:t>Centre Hospitalier Sainte-Claire  |  Saint-Etienne, France</a:t>
            </a:r>
          </a:p>
        </p:txBody>
      </p:sp>
      <p:sp>
        <p:nvSpPr>
          <p:cNvPr id="4" name="TextBox 3"/>
          <p:cNvSpPr txBox="1"/>
          <p:nvPr/>
        </p:nvSpPr>
        <p:spPr>
          <a:xfrm>
            <a:off x="914400" y="1554480"/>
            <a:ext cx="10332720" cy="411480"/>
          </a:xfrm>
          <a:prstGeom prst="rect">
            <a:avLst/>
          </a:prstGeom>
          <a:noFill/>
        </p:spPr>
        <p:txBody>
          <a:bodyPr wrap="square">
            <a:spAutoFit/>
          </a:bodyPr>
          <a:lstStyle/>
          <a:p>
            <a:pPr algn="ctr">
              <a:defRPr sz="1800" b="0">
                <a:solidFill>
                  <a:srgbClr val="E0E0F0"/>
                </a:solidFill>
                <a:latin typeface="Calibri"/>
              </a:defRPr>
            </a:pPr>
            <a:r>
              <a:t>A 350-bed regional hospital. 1,200 staff. 287 inpatients.</a:t>
            </a:r>
          </a:p>
        </p:txBody>
      </p:sp>
      <p:sp>
        <p:nvSpPr>
          <p:cNvPr id="5" name="TextBox 4"/>
          <p:cNvSpPr txBox="1"/>
          <p:nvPr/>
        </p:nvSpPr>
        <p:spPr>
          <a:xfrm>
            <a:off x="914400" y="1965960"/>
            <a:ext cx="10332720" cy="411480"/>
          </a:xfrm>
          <a:prstGeom prst="rect">
            <a:avLst/>
          </a:prstGeom>
          <a:noFill/>
        </p:spPr>
        <p:txBody>
          <a:bodyPr wrap="square">
            <a:spAutoFit/>
          </a:bodyPr>
          <a:lstStyle/>
          <a:p>
            <a:pPr algn="ctr">
              <a:defRPr sz="1800" b="0">
                <a:solidFill>
                  <a:srgbClr val="E0E0F0"/>
                </a:solidFill>
                <a:latin typeface="Calibri"/>
              </a:defRPr>
            </a:pPr>
            <a:r>
              <a:t>The only Level 1 trauma center and neonatal ICU in the region.</a:t>
            </a:r>
          </a:p>
        </p:txBody>
      </p:sp>
      <p:sp>
        <p:nvSpPr>
          <p:cNvPr id="6" name="TextBox 5"/>
          <p:cNvSpPr txBox="1"/>
          <p:nvPr/>
        </p:nvSpPr>
        <p:spPr>
          <a:xfrm>
            <a:off x="914400" y="2377440"/>
            <a:ext cx="10332720" cy="411480"/>
          </a:xfrm>
          <a:prstGeom prst="rect">
            <a:avLst/>
          </a:prstGeom>
          <a:noFill/>
        </p:spPr>
        <p:txBody>
          <a:bodyPr wrap="square">
            <a:spAutoFit/>
          </a:bodyPr>
          <a:lstStyle/>
          <a:p>
            <a:pPr algn="ctr">
              <a:defRPr sz="1800" b="0">
                <a:solidFill>
                  <a:srgbClr val="E0E0F0"/>
                </a:solidFill>
                <a:latin typeface="Calibri"/>
              </a:defRPr>
            </a:pPr>
          </a:p>
        </p:txBody>
      </p:sp>
      <p:sp>
        <p:nvSpPr>
          <p:cNvPr id="7" name="TextBox 6"/>
          <p:cNvSpPr txBox="1"/>
          <p:nvPr/>
        </p:nvSpPr>
        <p:spPr>
          <a:xfrm>
            <a:off x="914400" y="2788920"/>
            <a:ext cx="10332720" cy="411480"/>
          </a:xfrm>
          <a:prstGeom prst="rect">
            <a:avLst/>
          </a:prstGeom>
          <a:noFill/>
        </p:spPr>
        <p:txBody>
          <a:bodyPr wrap="square">
            <a:spAutoFit/>
          </a:bodyPr>
          <a:lstStyle/>
          <a:p>
            <a:pPr algn="ctr">
              <a:defRPr sz="2200" b="1">
                <a:solidFill>
                  <a:srgbClr val="E94560"/>
                </a:solidFill>
                <a:latin typeface="Calibri"/>
              </a:defRPr>
            </a:pPr>
            <a:r>
              <a:t>IT IS MONDAY, 06:12 AM.</a:t>
            </a:r>
          </a:p>
        </p:txBody>
      </p:sp>
      <p:sp>
        <p:nvSpPr>
          <p:cNvPr id="8" name="TextBox 7"/>
          <p:cNvSpPr txBox="1"/>
          <p:nvPr/>
        </p:nvSpPr>
        <p:spPr>
          <a:xfrm>
            <a:off x="914400" y="3200400"/>
            <a:ext cx="10332720" cy="411480"/>
          </a:xfrm>
          <a:prstGeom prst="rect">
            <a:avLst/>
          </a:prstGeom>
          <a:noFill/>
        </p:spPr>
        <p:txBody>
          <a:bodyPr wrap="square">
            <a:spAutoFit/>
          </a:bodyPr>
          <a:lstStyle/>
          <a:p>
            <a:pPr algn="ctr">
              <a:defRPr sz="1800" b="0">
                <a:solidFill>
                  <a:srgbClr val="E0E0F0"/>
                </a:solidFill>
                <a:latin typeface="Calibri"/>
              </a:defRPr>
            </a:pPr>
          </a:p>
        </p:txBody>
      </p:sp>
      <p:sp>
        <p:nvSpPr>
          <p:cNvPr id="9" name="TextBox 8"/>
          <p:cNvSpPr txBox="1"/>
          <p:nvPr/>
        </p:nvSpPr>
        <p:spPr>
          <a:xfrm>
            <a:off x="914400" y="3611880"/>
            <a:ext cx="10332720" cy="411480"/>
          </a:xfrm>
          <a:prstGeom prst="rect">
            <a:avLst/>
          </a:prstGeom>
          <a:noFill/>
        </p:spPr>
        <p:txBody>
          <a:bodyPr wrap="square">
            <a:spAutoFit/>
          </a:bodyPr>
          <a:lstStyle/>
          <a:p>
            <a:pPr algn="ctr">
              <a:defRPr sz="1800" b="0">
                <a:solidFill>
                  <a:srgbClr val="666666"/>
                </a:solidFill>
                <a:latin typeface="Calibri"/>
              </a:defRPr>
            </a:pPr>
            <a:r>
              <a:t>All systems operational.</a:t>
            </a:r>
          </a:p>
        </p:txBody>
      </p:sp>
      <p:sp>
        <p:nvSpPr>
          <p:cNvPr id="10" name="Rectangle 9"/>
          <p:cNvSpPr/>
          <p:nvPr/>
        </p:nvSpPr>
        <p:spPr>
          <a:xfrm>
            <a:off x="457200" y="4297680"/>
            <a:ext cx="2194560" cy="4572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EHR (DPI)</a:t>
            </a:r>
          </a:p>
        </p:txBody>
      </p:sp>
      <p:sp>
        <p:nvSpPr>
          <p:cNvPr id="11" name="Rectangle 10"/>
          <p:cNvSpPr/>
          <p:nvPr/>
        </p:nvSpPr>
        <p:spPr>
          <a:xfrm>
            <a:off x="2743200" y="4297680"/>
            <a:ext cx="2194560" cy="4572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Lab (LIS)</a:t>
            </a:r>
          </a:p>
        </p:txBody>
      </p:sp>
      <p:sp>
        <p:nvSpPr>
          <p:cNvPr id="12" name="Rectangle 11"/>
          <p:cNvSpPr/>
          <p:nvPr/>
        </p:nvSpPr>
        <p:spPr>
          <a:xfrm>
            <a:off x="5029200" y="4297680"/>
            <a:ext cx="2194560" cy="4572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PACS</a:t>
            </a:r>
          </a:p>
        </p:txBody>
      </p:sp>
      <p:sp>
        <p:nvSpPr>
          <p:cNvPr id="13" name="Rectangle 12"/>
          <p:cNvSpPr/>
          <p:nvPr/>
        </p:nvSpPr>
        <p:spPr>
          <a:xfrm>
            <a:off x="7315200" y="4297680"/>
            <a:ext cx="2194560" cy="4572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Pharmacy</a:t>
            </a:r>
          </a:p>
        </p:txBody>
      </p:sp>
      <p:sp>
        <p:nvSpPr>
          <p:cNvPr id="14" name="Rectangle 13"/>
          <p:cNvSpPr/>
          <p:nvPr/>
        </p:nvSpPr>
        <p:spPr>
          <a:xfrm>
            <a:off x="9601200" y="4297680"/>
            <a:ext cx="2194560" cy="4572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Patient Portal</a:t>
            </a:r>
          </a:p>
        </p:txBody>
      </p:sp>
      <p:sp>
        <p:nvSpPr>
          <p:cNvPr id="15" name="Rectangle 14"/>
          <p:cNvSpPr/>
          <p:nvPr/>
        </p:nvSpPr>
        <p:spPr>
          <a:xfrm>
            <a:off x="457200" y="4828032"/>
            <a:ext cx="2194560" cy="4572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Email</a:t>
            </a:r>
          </a:p>
        </p:txBody>
      </p:sp>
      <p:sp>
        <p:nvSpPr>
          <p:cNvPr id="16" name="Rectangle 15"/>
          <p:cNvSpPr/>
          <p:nvPr/>
        </p:nvSpPr>
        <p:spPr>
          <a:xfrm>
            <a:off x="2743200" y="4828032"/>
            <a:ext cx="2194560" cy="4572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Scheduling</a:t>
            </a:r>
          </a:p>
        </p:txBody>
      </p:sp>
      <p:sp>
        <p:nvSpPr>
          <p:cNvPr id="17" name="Rectangle 16"/>
          <p:cNvSpPr/>
          <p:nvPr/>
        </p:nvSpPr>
        <p:spPr>
          <a:xfrm>
            <a:off x="5029200" y="4828032"/>
            <a:ext cx="2194560" cy="4572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Billing</a:t>
            </a:r>
          </a:p>
        </p:txBody>
      </p:sp>
      <p:sp>
        <p:nvSpPr>
          <p:cNvPr id="18" name="Rectangle 17"/>
          <p:cNvSpPr/>
          <p:nvPr/>
        </p:nvSpPr>
        <p:spPr>
          <a:xfrm>
            <a:off x="7315200" y="4828032"/>
            <a:ext cx="2194560" cy="4572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Nurse Call</a:t>
            </a:r>
          </a:p>
        </p:txBody>
      </p:sp>
      <p:sp>
        <p:nvSpPr>
          <p:cNvPr id="19" name="Rectangle 18"/>
          <p:cNvSpPr/>
          <p:nvPr/>
        </p:nvSpPr>
        <p:spPr>
          <a:xfrm>
            <a:off x="9601200" y="4828032"/>
            <a:ext cx="2194560" cy="4572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Badge Access</a:t>
            </a:r>
          </a:p>
        </p:txBody>
      </p:sp>
      <p:sp>
        <p:nvSpPr>
          <p:cNvPr id="20" name="TextBox 19"/>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1 / 35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E94560"/>
                </a:solidFill>
                <a:latin typeface="Calibri"/>
              </a:defRPr>
            </a:pPr>
            <a:r>
              <a:t>THE BREACH BEGINS</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A0A0C0"/>
                </a:solidFill>
                <a:latin typeface="Calibri"/>
              </a:defRPr>
            </a:pPr>
            <a:r>
              <a:t>Monday -- 06:12 to 06:24</a:t>
            </a:r>
          </a:p>
        </p:txBody>
      </p:sp>
      <p:sp>
        <p:nvSpPr>
          <p:cNvPr id="4" name="Rectangle 3"/>
          <p:cNvSpPr/>
          <p:nvPr/>
        </p:nvSpPr>
        <p:spPr>
          <a:xfrm>
            <a:off x="457200" y="1554480"/>
            <a:ext cx="11247120" cy="39319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06:12  --  Night-shift nurse reports EHR is "frozen" on 3 workstations in the ICU.</a:t>
            </a:r>
          </a:p>
        </p:txBody>
      </p:sp>
      <p:sp>
        <p:nvSpPr>
          <p:cNvPr id="5" name="Rectangle 4"/>
          <p:cNvSpPr/>
          <p:nvPr/>
        </p:nvSpPr>
        <p:spPr>
          <a:xfrm>
            <a:off x="457200" y="1554480"/>
            <a:ext cx="73152" cy="39319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002536"/>
            <a:ext cx="11247120" cy="39319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06:15  --  Second nurse reports the same in maternity. Cannot access patient birth plans.</a:t>
            </a:r>
          </a:p>
        </p:txBody>
      </p:sp>
      <p:sp>
        <p:nvSpPr>
          <p:cNvPr id="7" name="Rectangle 6"/>
          <p:cNvSpPr/>
          <p:nvPr/>
        </p:nvSpPr>
        <p:spPr>
          <a:xfrm>
            <a:off x="457200" y="2002536"/>
            <a:ext cx="73152" cy="39319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450592"/>
            <a:ext cx="11247120" cy="39319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06:18  --  IT help desk receives 12 simultaneous calls. Lab system showing errors.</a:t>
            </a:r>
          </a:p>
        </p:txBody>
      </p:sp>
      <p:sp>
        <p:nvSpPr>
          <p:cNvPr id="9" name="Rectangle 8"/>
          <p:cNvSpPr/>
          <p:nvPr/>
        </p:nvSpPr>
        <p:spPr>
          <a:xfrm>
            <a:off x="457200" y="2450592"/>
            <a:ext cx="73152" cy="39319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898648"/>
            <a:ext cx="11247120" cy="39319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06:22  --  Pharmacy technician: automated dispensing cabinets unresponsive.</a:t>
            </a:r>
          </a:p>
        </p:txBody>
      </p:sp>
      <p:sp>
        <p:nvSpPr>
          <p:cNvPr id="11" name="Rectangle 10"/>
          <p:cNvSpPr/>
          <p:nvPr/>
        </p:nvSpPr>
        <p:spPr>
          <a:xfrm>
            <a:off x="457200" y="2898648"/>
            <a:ext cx="73152" cy="39319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346704"/>
            <a:ext cx="11247120" cy="649224"/>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06:24  --  Radiology PACS displays a ransom message:</a:t>
            </a:r>
            <a:br/>
            <a:r>
              <a:t>"Your files are encrypted. Contact us for the decryption key. You have 72 hours."</a:t>
            </a:r>
          </a:p>
        </p:txBody>
      </p:sp>
      <p:sp>
        <p:nvSpPr>
          <p:cNvPr id="13" name="Rectangle 12"/>
          <p:cNvSpPr/>
          <p:nvPr/>
        </p:nvSpPr>
        <p:spPr>
          <a:xfrm>
            <a:off x="457200" y="3346704"/>
            <a:ext cx="73152" cy="64922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2 / 35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E94560"/>
                </a:solidFill>
                <a:latin typeface="Calibri"/>
              </a:defRPr>
            </a:pPr>
            <a:r>
              <a:t>SYSTEMS FALLING</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A0A0C0"/>
                </a:solidFill>
                <a:latin typeface="Calibri"/>
              </a:defRPr>
            </a:pPr>
            <a:r>
              <a:t>Monday -- 06:26 to 06:42</a:t>
            </a:r>
          </a:p>
        </p:txBody>
      </p:sp>
      <p:sp>
        <p:nvSpPr>
          <p:cNvPr id="4" name="Rectangle 3"/>
          <p:cNvSpPr/>
          <p:nvPr/>
        </p:nvSpPr>
        <p:spPr>
          <a:xfrm>
            <a:off x="457200" y="1554480"/>
            <a:ext cx="11247120" cy="39319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06:26  --  Night IT admin restarts servers -- same ransom message on 4 of 6 core servers.</a:t>
            </a:r>
          </a:p>
        </p:txBody>
      </p:sp>
      <p:sp>
        <p:nvSpPr>
          <p:cNvPr id="5" name="Rectangle 4"/>
          <p:cNvSpPr/>
          <p:nvPr/>
        </p:nvSpPr>
        <p:spPr>
          <a:xfrm>
            <a:off x="457200" y="1554480"/>
            <a:ext cx="73152" cy="39319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002536"/>
            <a:ext cx="11247120" cy="39319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06:30  --  Pharmacy dispensing confirmed offline. Medication cabinets locked hospital-wide.</a:t>
            </a:r>
          </a:p>
        </p:txBody>
      </p:sp>
      <p:sp>
        <p:nvSpPr>
          <p:cNvPr id="7" name="Rectangle 6"/>
          <p:cNvSpPr/>
          <p:nvPr/>
        </p:nvSpPr>
        <p:spPr>
          <a:xfrm>
            <a:off x="457200" y="2002536"/>
            <a:ext cx="73152" cy="39319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450592"/>
            <a:ext cx="11247120" cy="39319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06:33  --  Patient portal goes dark. 47 telehealth appointments scheduled today.</a:t>
            </a:r>
          </a:p>
        </p:txBody>
      </p:sp>
      <p:sp>
        <p:nvSpPr>
          <p:cNvPr id="9" name="Rectangle 8"/>
          <p:cNvSpPr/>
          <p:nvPr/>
        </p:nvSpPr>
        <p:spPr>
          <a:xfrm>
            <a:off x="457200" y="2450592"/>
            <a:ext cx="73152" cy="39319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898648"/>
            <a:ext cx="11247120" cy="39319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06:35  --  Scheduling unresponsive. 142 outpatient appointments unconfirmable.</a:t>
            </a:r>
          </a:p>
        </p:txBody>
      </p:sp>
      <p:sp>
        <p:nvSpPr>
          <p:cNvPr id="11" name="Rectangle 10"/>
          <p:cNvSpPr/>
          <p:nvPr/>
        </p:nvSpPr>
        <p:spPr>
          <a:xfrm>
            <a:off x="457200" y="2898648"/>
            <a:ext cx="73152" cy="39319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346704"/>
            <a:ext cx="11247120" cy="39319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06:38  --  Billing and revenue cycle encrypted. No claims can be submitted.</a:t>
            </a:r>
          </a:p>
        </p:txBody>
      </p:sp>
      <p:sp>
        <p:nvSpPr>
          <p:cNvPr id="13" name="Rectangle 12"/>
          <p:cNvSpPr/>
          <p:nvPr/>
        </p:nvSpPr>
        <p:spPr>
          <a:xfrm>
            <a:off x="457200" y="3346704"/>
            <a:ext cx="73152" cy="39319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794760"/>
            <a:ext cx="11247120" cy="39319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06:40  --  IT confirms: LockBit ransomware across EHR, LIS, PACS, pharmacy, billing.</a:t>
            </a:r>
          </a:p>
        </p:txBody>
      </p:sp>
      <p:sp>
        <p:nvSpPr>
          <p:cNvPr id="15" name="Rectangle 14"/>
          <p:cNvSpPr/>
          <p:nvPr/>
        </p:nvSpPr>
        <p:spPr>
          <a:xfrm>
            <a:off x="457200" y="3794760"/>
            <a:ext cx="73152" cy="39319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4242816"/>
            <a:ext cx="11247120" cy="39319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06:42  --  Forensics: initial access was 11 days ago via phishing email to radiology tech.</a:t>
            </a:r>
          </a:p>
        </p:txBody>
      </p:sp>
      <p:sp>
        <p:nvSpPr>
          <p:cNvPr id="17" name="Rectangle 16"/>
          <p:cNvSpPr/>
          <p:nvPr/>
        </p:nvSpPr>
        <p:spPr>
          <a:xfrm>
            <a:off x="457200" y="4242816"/>
            <a:ext cx="73152" cy="39319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3 / 35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E94560"/>
                </a:solidFill>
                <a:latin typeface="Calibri"/>
              </a:defRPr>
            </a:pPr>
            <a:r>
              <a:t>FULL-SCALE ATTACK CONFIRMED</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A0A0C0"/>
                </a:solidFill>
                <a:latin typeface="Calibri"/>
              </a:defRPr>
            </a:pPr>
            <a:r>
              <a:t>Monday -- 06:45 to 07:05</a:t>
            </a:r>
          </a:p>
        </p:txBody>
      </p:sp>
      <p:sp>
        <p:nvSpPr>
          <p:cNvPr id="4" name="Rectangle 3"/>
          <p:cNvSpPr/>
          <p:nvPr/>
        </p:nvSpPr>
        <p:spPr>
          <a:xfrm>
            <a:off x="457200" y="1554480"/>
            <a:ext cx="11247120" cy="39319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06:45  --  Email servers compromised. Communication limited to phone and in-person.</a:t>
            </a:r>
          </a:p>
        </p:txBody>
      </p:sp>
      <p:sp>
        <p:nvSpPr>
          <p:cNvPr id="5" name="Rectangle 4"/>
          <p:cNvSpPr/>
          <p:nvPr/>
        </p:nvSpPr>
        <p:spPr>
          <a:xfrm>
            <a:off x="457200" y="1554480"/>
            <a:ext cx="73152" cy="39319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002536"/>
            <a:ext cx="11247120" cy="39319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06:48  --  Nurse call system degraded. Some units report delays.</a:t>
            </a:r>
          </a:p>
        </p:txBody>
      </p:sp>
      <p:sp>
        <p:nvSpPr>
          <p:cNvPr id="7" name="Rectangle 6"/>
          <p:cNvSpPr/>
          <p:nvPr/>
        </p:nvSpPr>
        <p:spPr>
          <a:xfrm>
            <a:off x="457200" y="2002536"/>
            <a:ext cx="73152" cy="39319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450592"/>
            <a:ext cx="11247120" cy="39319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06:50  --  Badge access intermittent. Pharmacy and server room unsecured.</a:t>
            </a:r>
          </a:p>
        </p:txBody>
      </p:sp>
      <p:sp>
        <p:nvSpPr>
          <p:cNvPr id="9" name="Rectangle 8"/>
          <p:cNvSpPr/>
          <p:nvPr/>
        </p:nvSpPr>
        <p:spPr>
          <a:xfrm>
            <a:off x="457200" y="2450592"/>
            <a:ext cx="73152" cy="39319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898648"/>
            <a:ext cx="11247120" cy="39319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06:55  --  400+ day-shift staff arriving. Most have no information.</a:t>
            </a:r>
          </a:p>
        </p:txBody>
      </p:sp>
      <p:sp>
        <p:nvSpPr>
          <p:cNvPr id="11" name="Rectangle 10"/>
          <p:cNvSpPr/>
          <p:nvPr/>
        </p:nvSpPr>
        <p:spPr>
          <a:xfrm>
            <a:off x="457200" y="2898648"/>
            <a:ext cx="73152" cy="39319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346704"/>
            <a:ext cx="11247120" cy="39319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07:00  --  Hospital Incident Command System (HICS) activated.</a:t>
            </a:r>
          </a:p>
        </p:txBody>
      </p:sp>
      <p:sp>
        <p:nvSpPr>
          <p:cNvPr id="13" name="Rectangle 12"/>
          <p:cNvSpPr/>
          <p:nvPr/>
        </p:nvSpPr>
        <p:spPr>
          <a:xfrm>
            <a:off x="457200" y="3346704"/>
            <a:ext cx="73152" cy="39319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794760"/>
            <a:ext cx="11247120" cy="39319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07:05  --  ANSSI contacted. Forensics team: 6-8 hours away.</a:t>
            </a:r>
          </a:p>
        </p:txBody>
      </p:sp>
      <p:sp>
        <p:nvSpPr>
          <p:cNvPr id="15" name="Rectangle 14"/>
          <p:cNvSpPr/>
          <p:nvPr/>
        </p:nvSpPr>
        <p:spPr>
          <a:xfrm>
            <a:off x="457200" y="3794760"/>
            <a:ext cx="73152" cy="39319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4242816"/>
            <a:ext cx="11247120" cy="640080"/>
          </a:xfrm>
          <a:prstGeom prst="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2200" b="1">
                <a:solidFill>
                  <a:srgbClr val="FFFFFF"/>
                </a:solidFill>
                <a:latin typeface="Calibri"/>
              </a:defRPr>
            </a:pPr>
            <a:r>
              <a:t>ALL MAJOR CLINICAL SYSTEMS ARE DOWN</a:t>
            </a:r>
          </a:p>
        </p:txBody>
      </p:sp>
      <p:sp>
        <p:nvSpPr>
          <p:cNvPr id="17" name="Rectangle 16"/>
          <p:cNvSpPr/>
          <p:nvPr/>
        </p:nvSpPr>
        <p:spPr>
          <a:xfrm>
            <a:off x="457200" y="5020056"/>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EHR (DPI)  [DOWN]</a:t>
            </a:r>
          </a:p>
        </p:txBody>
      </p:sp>
      <p:sp>
        <p:nvSpPr>
          <p:cNvPr id="18" name="Rectangle 17"/>
          <p:cNvSpPr/>
          <p:nvPr/>
        </p:nvSpPr>
        <p:spPr>
          <a:xfrm>
            <a:off x="2743200" y="5020056"/>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Lab (LIS)  [DOWN]</a:t>
            </a:r>
          </a:p>
        </p:txBody>
      </p:sp>
      <p:sp>
        <p:nvSpPr>
          <p:cNvPr id="19" name="Rectangle 18"/>
          <p:cNvSpPr/>
          <p:nvPr/>
        </p:nvSpPr>
        <p:spPr>
          <a:xfrm>
            <a:off x="5029200" y="5020056"/>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PACS  [DOWN]</a:t>
            </a:r>
          </a:p>
        </p:txBody>
      </p:sp>
      <p:sp>
        <p:nvSpPr>
          <p:cNvPr id="20" name="Rectangle 19"/>
          <p:cNvSpPr/>
          <p:nvPr/>
        </p:nvSpPr>
        <p:spPr>
          <a:xfrm>
            <a:off x="7315200" y="5020056"/>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Pharmacy  [DOWN]</a:t>
            </a:r>
          </a:p>
        </p:txBody>
      </p:sp>
      <p:sp>
        <p:nvSpPr>
          <p:cNvPr id="21" name="Rectangle 20"/>
          <p:cNvSpPr/>
          <p:nvPr/>
        </p:nvSpPr>
        <p:spPr>
          <a:xfrm>
            <a:off x="9601200" y="5020056"/>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Patient Portal  [DOWN]</a:t>
            </a:r>
          </a:p>
        </p:txBody>
      </p:sp>
      <p:sp>
        <p:nvSpPr>
          <p:cNvPr id="22" name="Rectangle 21"/>
          <p:cNvSpPr/>
          <p:nvPr/>
        </p:nvSpPr>
        <p:spPr>
          <a:xfrm>
            <a:off x="457200" y="5550408"/>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Email  [DOWN]</a:t>
            </a:r>
          </a:p>
        </p:txBody>
      </p:sp>
      <p:sp>
        <p:nvSpPr>
          <p:cNvPr id="23" name="Rectangle 22"/>
          <p:cNvSpPr/>
          <p:nvPr/>
        </p:nvSpPr>
        <p:spPr>
          <a:xfrm>
            <a:off x="2743200" y="5550408"/>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Scheduling  [DOWN]</a:t>
            </a:r>
          </a:p>
        </p:txBody>
      </p:sp>
      <p:sp>
        <p:nvSpPr>
          <p:cNvPr id="24" name="Rectangle 23"/>
          <p:cNvSpPr/>
          <p:nvPr/>
        </p:nvSpPr>
        <p:spPr>
          <a:xfrm>
            <a:off x="5029200" y="5550408"/>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Billing  [DOWN]</a:t>
            </a:r>
          </a:p>
        </p:txBody>
      </p:sp>
      <p:sp>
        <p:nvSpPr>
          <p:cNvPr id="25" name="Rectangle 24"/>
          <p:cNvSpPr/>
          <p:nvPr/>
        </p:nvSpPr>
        <p:spPr>
          <a:xfrm>
            <a:off x="7315200" y="5550408"/>
            <a:ext cx="2194560" cy="45720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Nurse Call  [DEGRADED]</a:t>
            </a:r>
          </a:p>
        </p:txBody>
      </p:sp>
      <p:sp>
        <p:nvSpPr>
          <p:cNvPr id="26" name="Rectangle 25"/>
          <p:cNvSpPr/>
          <p:nvPr/>
        </p:nvSpPr>
        <p:spPr>
          <a:xfrm>
            <a:off x="9601200" y="5550408"/>
            <a:ext cx="2194560" cy="45720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Badge Access  [DEGRADED]</a:t>
            </a:r>
          </a:p>
        </p:txBody>
      </p:sp>
      <p:sp>
        <p:nvSpPr>
          <p:cNvPr id="27" name="TextBox 26"/>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4 / 35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5E20"/>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FFFFFF"/>
                </a:solidFill>
                <a:latin typeface="Calibri"/>
              </a:defRPr>
            </a:pPr>
            <a:r>
              <a:t>PAUSE -- TEAM DISCUSSION</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C8E6C9"/>
                </a:solidFill>
                <a:latin typeface="Calibri"/>
              </a:defRPr>
            </a:pPr>
            <a:r>
              <a:t>You are the hospital's crisis leadership team. It is 07:05 AM.</a:t>
            </a:r>
          </a:p>
        </p:txBody>
      </p:sp>
      <p:sp>
        <p:nvSpPr>
          <p:cNvPr id="4" name="TextBox 3"/>
          <p:cNvSpPr txBox="1"/>
          <p:nvPr/>
        </p:nvSpPr>
        <p:spPr>
          <a:xfrm>
            <a:off x="1371600" y="1828800"/>
            <a:ext cx="9418320" cy="502920"/>
          </a:xfrm>
          <a:prstGeom prst="rect">
            <a:avLst/>
          </a:prstGeom>
          <a:noFill/>
        </p:spPr>
        <p:txBody>
          <a:bodyPr wrap="square">
            <a:spAutoFit/>
          </a:bodyPr>
          <a:lstStyle/>
          <a:p>
            <a:pPr algn="l">
              <a:defRPr sz="1800" b="0">
                <a:solidFill>
                  <a:srgbClr val="FFFFFF"/>
                </a:solidFill>
                <a:latin typeface="Calibri"/>
              </a:defRPr>
            </a:pPr>
            <a:r>
              <a:t>1. What is your FIRST action? Downtime procedures or network isolation?</a:t>
            </a:r>
          </a:p>
        </p:txBody>
      </p:sp>
      <p:sp>
        <p:nvSpPr>
          <p:cNvPr id="5" name="TextBox 4"/>
          <p:cNvSpPr txBox="1"/>
          <p:nvPr/>
        </p:nvSpPr>
        <p:spPr>
          <a:xfrm>
            <a:off x="1371600" y="2423160"/>
            <a:ext cx="9418320" cy="502920"/>
          </a:xfrm>
          <a:prstGeom prst="rect">
            <a:avLst/>
          </a:prstGeom>
          <a:noFill/>
        </p:spPr>
        <p:txBody>
          <a:bodyPr wrap="square">
            <a:spAutoFit/>
          </a:bodyPr>
          <a:lstStyle/>
          <a:p>
            <a:pPr algn="l">
              <a:defRPr sz="1800" b="0">
                <a:solidFill>
                  <a:srgbClr val="FFFFFF"/>
                </a:solidFill>
                <a:latin typeface="Calibri"/>
              </a:defRPr>
            </a:pPr>
            <a:r>
              <a:t>2. How do you communicate to 1,200 staff with no email?</a:t>
            </a:r>
          </a:p>
        </p:txBody>
      </p:sp>
      <p:sp>
        <p:nvSpPr>
          <p:cNvPr id="6" name="TextBox 5"/>
          <p:cNvSpPr txBox="1"/>
          <p:nvPr/>
        </p:nvSpPr>
        <p:spPr>
          <a:xfrm>
            <a:off x="1371600" y="3017520"/>
            <a:ext cx="9418320" cy="822959"/>
          </a:xfrm>
          <a:prstGeom prst="rect">
            <a:avLst/>
          </a:prstGeom>
          <a:noFill/>
        </p:spPr>
        <p:txBody>
          <a:bodyPr wrap="square">
            <a:spAutoFit/>
          </a:bodyPr>
          <a:lstStyle/>
          <a:p>
            <a:pPr algn="l">
              <a:defRPr sz="1800" b="0">
                <a:solidFill>
                  <a:srgbClr val="FFFFFF"/>
                </a:solidFill>
                <a:latin typeface="Calibri"/>
              </a:defRPr>
            </a:pPr>
            <a:r>
              <a:t>3. 15 ICU patients on smart pump drips. 8 women in labor. 12 surgeries scheduled.</a:t>
            </a:r>
            <a:br/>
            <a:r>
              <a:t>   What is your patient safety strategy?</a:t>
            </a:r>
          </a:p>
        </p:txBody>
      </p:sp>
      <p:sp>
        <p:nvSpPr>
          <p:cNvPr id="7" name="TextBox 6"/>
          <p:cNvSpPr txBox="1"/>
          <p:nvPr/>
        </p:nvSpPr>
        <p:spPr>
          <a:xfrm>
            <a:off x="1371600" y="3931919"/>
            <a:ext cx="9418320" cy="502920"/>
          </a:xfrm>
          <a:prstGeom prst="rect">
            <a:avLst/>
          </a:prstGeom>
          <a:noFill/>
        </p:spPr>
        <p:txBody>
          <a:bodyPr wrap="square">
            <a:spAutoFit/>
          </a:bodyPr>
          <a:lstStyle/>
          <a:p>
            <a:pPr algn="l">
              <a:defRPr sz="1800" b="0">
                <a:solidFill>
                  <a:srgbClr val="FFFFFF"/>
                </a:solidFill>
                <a:latin typeface="Calibri"/>
              </a:defRPr>
            </a:pPr>
            <a:r>
              <a:t>4. Who do you call first? Police, insurance, regulator, or the board?</a:t>
            </a:r>
          </a:p>
        </p:txBody>
      </p:sp>
      <p:sp>
        <p:nvSpPr>
          <p:cNvPr id="8" name="TextBox 7"/>
          <p:cNvSpPr txBox="1"/>
          <p:nvPr/>
        </p:nvSpPr>
        <p:spPr>
          <a:xfrm>
            <a:off x="914400" y="5303520"/>
            <a:ext cx="10332720" cy="365760"/>
          </a:xfrm>
          <a:prstGeom prst="rect">
            <a:avLst/>
          </a:prstGeom>
          <a:noFill/>
        </p:spPr>
        <p:txBody>
          <a:bodyPr wrap="square">
            <a:spAutoFit/>
          </a:bodyPr>
          <a:lstStyle/>
          <a:p>
            <a:pPr algn="ctr">
              <a:defRPr sz="1300" b="0">
                <a:solidFill>
                  <a:srgbClr val="A5D6A7"/>
                </a:solidFill>
                <a:latin typeface="Calibri"/>
              </a:defRPr>
            </a:pPr>
            <a:r>
              <a:t>Discuss on your feet. Then return to your device to log your decisions.</a:t>
            </a:r>
          </a:p>
        </p:txBody>
      </p:sp>
      <p:sp>
        <p:nvSpPr>
          <p:cNvPr id="9" name="TextBox 8"/>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5 / 35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E94560"/>
                </a:solidFill>
                <a:latin typeface="Calibri"/>
              </a:defRPr>
            </a:pPr>
            <a:r>
              <a:t>DOWNTIME OPERATIONS</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A0A0C0"/>
                </a:solidFill>
                <a:latin typeface="Calibri"/>
              </a:defRPr>
            </a:pPr>
            <a:r>
              <a:t>Monday 08:00 -- Tuesday 06:00  |  Hour 2 to 24</a:t>
            </a:r>
          </a:p>
        </p:txBody>
      </p:sp>
      <p:sp>
        <p:nvSpPr>
          <p:cNvPr id="4" name="Rectangle 3"/>
          <p:cNvSpPr/>
          <p:nvPr/>
        </p:nvSpPr>
        <p:spPr>
          <a:xfrm>
            <a:off x="457200" y="1554480"/>
            <a:ext cx="11247120" cy="64008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2200" b="1">
                <a:solidFill>
                  <a:srgbClr val="FFFFFF"/>
                </a:solidFill>
                <a:latin typeface="Calibri"/>
              </a:defRPr>
            </a:pPr>
            <a:r>
              <a:t>ALL CLINICAL SYSTEMS OPERATING MANUALLY</a:t>
            </a:r>
          </a:p>
        </p:txBody>
      </p:sp>
      <p:sp>
        <p:nvSpPr>
          <p:cNvPr id="5" name="Rectangle 4"/>
          <p:cNvSpPr/>
          <p:nvPr/>
        </p:nvSpPr>
        <p:spPr>
          <a:xfrm>
            <a:off x="457200" y="2331720"/>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EHR (DPI)  [DOWN]</a:t>
            </a:r>
          </a:p>
        </p:txBody>
      </p:sp>
      <p:sp>
        <p:nvSpPr>
          <p:cNvPr id="6" name="Rectangle 5"/>
          <p:cNvSpPr/>
          <p:nvPr/>
        </p:nvSpPr>
        <p:spPr>
          <a:xfrm>
            <a:off x="2743200" y="2331720"/>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Lab (LIS)  [DOWN]</a:t>
            </a:r>
          </a:p>
        </p:txBody>
      </p:sp>
      <p:sp>
        <p:nvSpPr>
          <p:cNvPr id="7" name="Rectangle 6"/>
          <p:cNvSpPr/>
          <p:nvPr/>
        </p:nvSpPr>
        <p:spPr>
          <a:xfrm>
            <a:off x="5029200" y="2331720"/>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PACS  [DOWN]</a:t>
            </a:r>
          </a:p>
        </p:txBody>
      </p:sp>
      <p:sp>
        <p:nvSpPr>
          <p:cNvPr id="8" name="Rectangle 7"/>
          <p:cNvSpPr/>
          <p:nvPr/>
        </p:nvSpPr>
        <p:spPr>
          <a:xfrm>
            <a:off x="7315200" y="2331720"/>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Pharmacy  [DOWN]</a:t>
            </a:r>
          </a:p>
        </p:txBody>
      </p:sp>
      <p:sp>
        <p:nvSpPr>
          <p:cNvPr id="9" name="Rectangle 8"/>
          <p:cNvSpPr/>
          <p:nvPr/>
        </p:nvSpPr>
        <p:spPr>
          <a:xfrm>
            <a:off x="9601200" y="2331720"/>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Patient Portal  [DOWN]</a:t>
            </a:r>
          </a:p>
        </p:txBody>
      </p:sp>
      <p:sp>
        <p:nvSpPr>
          <p:cNvPr id="10" name="Rectangle 9"/>
          <p:cNvSpPr/>
          <p:nvPr/>
        </p:nvSpPr>
        <p:spPr>
          <a:xfrm>
            <a:off x="457200" y="2862072"/>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Email  [DOWN]</a:t>
            </a:r>
          </a:p>
        </p:txBody>
      </p:sp>
      <p:sp>
        <p:nvSpPr>
          <p:cNvPr id="11" name="Rectangle 10"/>
          <p:cNvSpPr/>
          <p:nvPr/>
        </p:nvSpPr>
        <p:spPr>
          <a:xfrm>
            <a:off x="2743200" y="2862072"/>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Scheduling  [DOWN]</a:t>
            </a:r>
          </a:p>
        </p:txBody>
      </p:sp>
      <p:sp>
        <p:nvSpPr>
          <p:cNvPr id="12" name="Rectangle 11"/>
          <p:cNvSpPr/>
          <p:nvPr/>
        </p:nvSpPr>
        <p:spPr>
          <a:xfrm>
            <a:off x="5029200" y="2862072"/>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Billing  [DOWN]</a:t>
            </a:r>
          </a:p>
        </p:txBody>
      </p:sp>
      <p:sp>
        <p:nvSpPr>
          <p:cNvPr id="13" name="Rectangle 12"/>
          <p:cNvSpPr/>
          <p:nvPr/>
        </p:nvSpPr>
        <p:spPr>
          <a:xfrm>
            <a:off x="7315200" y="2862072"/>
            <a:ext cx="2194560" cy="45720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Nurse Call  [DEGRADED]</a:t>
            </a:r>
          </a:p>
        </p:txBody>
      </p:sp>
      <p:sp>
        <p:nvSpPr>
          <p:cNvPr id="14" name="Rectangle 13"/>
          <p:cNvSpPr/>
          <p:nvPr/>
        </p:nvSpPr>
        <p:spPr>
          <a:xfrm>
            <a:off x="9601200" y="2862072"/>
            <a:ext cx="2194560" cy="45720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Badge Access  [DEGRADED]</a:t>
            </a:r>
          </a:p>
        </p:txBody>
      </p:sp>
      <p:sp>
        <p:nvSpPr>
          <p:cNvPr id="15" name="TextBox 14"/>
          <p:cNvSpPr txBox="1"/>
          <p:nvPr/>
        </p:nvSpPr>
        <p:spPr>
          <a:xfrm>
            <a:off x="914400" y="3483864"/>
            <a:ext cx="10332720" cy="365760"/>
          </a:xfrm>
          <a:prstGeom prst="rect">
            <a:avLst/>
          </a:prstGeom>
          <a:noFill/>
        </p:spPr>
        <p:txBody>
          <a:bodyPr wrap="square">
            <a:spAutoFit/>
          </a:bodyPr>
          <a:lstStyle/>
          <a:p>
            <a:pPr algn="ctr">
              <a:defRPr sz="1800" b="0">
                <a:solidFill>
                  <a:srgbClr val="E0E0F0"/>
                </a:solidFill>
                <a:latin typeface="Calibri"/>
              </a:defRPr>
            </a:pPr>
            <a:r>
              <a:t>Every medication. Every patient ID check. Every lab order. Every note.</a:t>
            </a:r>
          </a:p>
        </p:txBody>
      </p:sp>
      <p:sp>
        <p:nvSpPr>
          <p:cNvPr id="16" name="TextBox 15"/>
          <p:cNvSpPr txBox="1"/>
          <p:nvPr/>
        </p:nvSpPr>
        <p:spPr>
          <a:xfrm>
            <a:off x="914400" y="3895344"/>
            <a:ext cx="10332720" cy="365760"/>
          </a:xfrm>
          <a:prstGeom prst="rect">
            <a:avLst/>
          </a:prstGeom>
          <a:noFill/>
        </p:spPr>
        <p:txBody>
          <a:bodyPr wrap="square">
            <a:spAutoFit/>
          </a:bodyPr>
          <a:lstStyle/>
          <a:p>
            <a:pPr algn="ctr">
              <a:defRPr sz="2200" b="1">
                <a:solidFill>
                  <a:srgbClr val="FFA726"/>
                </a:solidFill>
                <a:latin typeface="Calibri"/>
              </a:defRPr>
            </a:pPr>
            <a:r>
              <a:t>On paper.</a:t>
            </a:r>
          </a:p>
        </p:txBody>
      </p:sp>
      <p:sp>
        <p:nvSpPr>
          <p:cNvPr id="17" name="Rectangle 16"/>
          <p:cNvSpPr/>
          <p:nvPr/>
        </p:nvSpPr>
        <p:spPr>
          <a:xfrm>
            <a:off x="457200" y="4398264"/>
            <a:ext cx="2157984" cy="914400"/>
          </a:xfrm>
          <a:prstGeom prst="rect">
            <a:avLst/>
          </a:prstGeom>
          <a:solidFill>
            <a:srgbClr val="1A1A2E"/>
          </a:solidFill>
          <a:ln w="1270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defRPr sz="2800" b="1">
                <a:solidFill>
                  <a:srgbClr val="E94560"/>
                </a:solidFill>
                <a:latin typeface="Courier New"/>
              </a:defRPr>
            </a:pPr>
            <a:r>
              <a:t>287</a:t>
            </a:r>
          </a:p>
          <a:p>
            <a:pPr algn="ctr">
              <a:defRPr sz="1100">
                <a:solidFill>
                  <a:srgbClr val="A0A0C0"/>
                </a:solidFill>
                <a:latin typeface="Calibri"/>
              </a:defRPr>
            </a:pPr>
            <a:r>
              <a:t>Inpatients</a:t>
            </a:r>
          </a:p>
        </p:txBody>
      </p:sp>
      <p:sp>
        <p:nvSpPr>
          <p:cNvPr id="18" name="Rectangle 17"/>
          <p:cNvSpPr/>
          <p:nvPr/>
        </p:nvSpPr>
        <p:spPr>
          <a:xfrm>
            <a:off x="2706624" y="4398264"/>
            <a:ext cx="2157984" cy="914400"/>
          </a:xfrm>
          <a:prstGeom prst="rect">
            <a:avLst/>
          </a:prstGeom>
          <a:solidFill>
            <a:srgbClr val="1A1A2E"/>
          </a:solidFill>
          <a:ln w="1270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defRPr sz="2800" b="1">
                <a:solidFill>
                  <a:srgbClr val="E94560"/>
                </a:solidFill>
                <a:latin typeface="Courier New"/>
              </a:defRPr>
            </a:pPr>
            <a:r>
              <a:t>42</a:t>
            </a:r>
          </a:p>
          <a:p>
            <a:pPr algn="ctr">
              <a:defRPr sz="1100">
                <a:solidFill>
                  <a:srgbClr val="A0A0C0"/>
                </a:solidFill>
                <a:latin typeface="Calibri"/>
              </a:defRPr>
            </a:pPr>
            <a:r>
              <a:t>ICU Patients</a:t>
            </a:r>
          </a:p>
        </p:txBody>
      </p:sp>
      <p:sp>
        <p:nvSpPr>
          <p:cNvPr id="19" name="Rectangle 18"/>
          <p:cNvSpPr/>
          <p:nvPr/>
        </p:nvSpPr>
        <p:spPr>
          <a:xfrm>
            <a:off x="4956048" y="4398264"/>
            <a:ext cx="2157984" cy="914400"/>
          </a:xfrm>
          <a:prstGeom prst="rect">
            <a:avLst/>
          </a:prstGeom>
          <a:solidFill>
            <a:srgbClr val="1A1A2E"/>
          </a:solidFill>
          <a:ln w="1270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defRPr sz="2800" b="1">
                <a:solidFill>
                  <a:srgbClr val="E94560"/>
                </a:solidFill>
                <a:latin typeface="Courier New"/>
              </a:defRPr>
            </a:pPr>
            <a:r>
              <a:t>8</a:t>
            </a:r>
          </a:p>
          <a:p>
            <a:pPr algn="ctr">
              <a:defRPr sz="1100">
                <a:solidFill>
                  <a:srgbClr val="A0A0C0"/>
                </a:solidFill>
                <a:latin typeface="Calibri"/>
              </a:defRPr>
            </a:pPr>
            <a:r>
              <a:t>Maternity</a:t>
            </a:r>
          </a:p>
        </p:txBody>
      </p:sp>
      <p:sp>
        <p:nvSpPr>
          <p:cNvPr id="20" name="Rectangle 19"/>
          <p:cNvSpPr/>
          <p:nvPr/>
        </p:nvSpPr>
        <p:spPr>
          <a:xfrm>
            <a:off x="7205472" y="4398264"/>
            <a:ext cx="2157984" cy="914400"/>
          </a:xfrm>
          <a:prstGeom prst="rect">
            <a:avLst/>
          </a:prstGeom>
          <a:solidFill>
            <a:srgbClr val="1A1A2E"/>
          </a:solidFill>
          <a:ln w="1270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defRPr sz="2800" b="1">
                <a:solidFill>
                  <a:srgbClr val="E94560"/>
                </a:solidFill>
                <a:latin typeface="Courier New"/>
              </a:defRPr>
            </a:pPr>
            <a:r>
              <a:t>14</a:t>
            </a:r>
          </a:p>
          <a:p>
            <a:pPr algn="ctr">
              <a:defRPr sz="1100">
                <a:solidFill>
                  <a:srgbClr val="A0A0C0"/>
                </a:solidFill>
                <a:latin typeface="Calibri"/>
              </a:defRPr>
            </a:pPr>
            <a:r>
              <a:t>Patients Named Martin</a:t>
            </a:r>
          </a:p>
        </p:txBody>
      </p:sp>
      <p:sp>
        <p:nvSpPr>
          <p:cNvPr id="21" name="Rectangle 20"/>
          <p:cNvSpPr/>
          <p:nvPr/>
        </p:nvSpPr>
        <p:spPr>
          <a:xfrm>
            <a:off x="9454896" y="4398264"/>
            <a:ext cx="2157984" cy="914400"/>
          </a:xfrm>
          <a:prstGeom prst="rect">
            <a:avLst/>
          </a:prstGeom>
          <a:solidFill>
            <a:srgbClr val="1A1A2E"/>
          </a:solidFill>
          <a:ln w="1270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defRPr sz="2800" b="1">
                <a:solidFill>
                  <a:srgbClr val="E94560"/>
                </a:solidFill>
                <a:latin typeface="Courier New"/>
              </a:defRPr>
            </a:pPr>
            <a:r>
              <a:t>0</a:t>
            </a:r>
          </a:p>
          <a:p>
            <a:pPr algn="ctr">
              <a:defRPr sz="1100">
                <a:solidFill>
                  <a:srgbClr val="A0A0C0"/>
                </a:solidFill>
                <a:latin typeface="Calibri"/>
              </a:defRPr>
            </a:pPr>
            <a:r>
              <a:t>Systems Online</a:t>
            </a:r>
          </a:p>
        </p:txBody>
      </p:sp>
      <p:sp>
        <p:nvSpPr>
          <p:cNvPr id="22" name="TextBox 21"/>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6 / 35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E94560"/>
                </a:solidFill>
                <a:latin typeface="Calibri"/>
              </a:defRPr>
            </a:pPr>
            <a:r>
              <a:t>INJECT: NEAR-MISS MEDICATION EVENT</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A0A0C0"/>
                </a:solidFill>
                <a:latin typeface="Calibri"/>
              </a:defRPr>
            </a:pPr>
            <a:r>
              <a:t>Hour 4</a:t>
            </a:r>
          </a:p>
        </p:txBody>
      </p:sp>
      <p:sp>
        <p:nvSpPr>
          <p:cNvPr id="4" name="Rectangle 3"/>
          <p:cNvSpPr/>
          <p:nvPr/>
        </p:nvSpPr>
        <p:spPr>
          <a:xfrm>
            <a:off x="457200" y="1554480"/>
            <a:ext cx="11247120" cy="905256"/>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A nurse reports a near-miss: without barcode scanning,</a:t>
            </a:r>
            <a:br/>
            <a:r>
              <a:t>MARTIN, Jean-Pierre vs. MARTIN, Jean-Paul --</a:t>
            </a:r>
            <a:br/>
            <a:r>
              <a:t>almost given the wrong medication.</a:t>
            </a:r>
          </a:p>
        </p:txBody>
      </p:sp>
      <p:sp>
        <p:nvSpPr>
          <p:cNvPr id="5" name="Rectangle 4"/>
          <p:cNvSpPr/>
          <p:nvPr/>
        </p:nvSpPr>
        <p:spPr>
          <a:xfrm>
            <a:off x="457200" y="1554480"/>
            <a:ext cx="73152" cy="905256"/>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514600"/>
            <a:ext cx="11247120" cy="649224"/>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The manual five-rights check caught it.</a:t>
            </a:r>
            <a:br/>
            <a:r>
              <a:t>But staff are shaken and requesting additional safety protocols.</a:t>
            </a:r>
          </a:p>
        </p:txBody>
      </p:sp>
      <p:sp>
        <p:nvSpPr>
          <p:cNvPr id="7" name="Rectangle 6"/>
          <p:cNvSpPr/>
          <p:nvPr/>
        </p:nvSpPr>
        <p:spPr>
          <a:xfrm>
            <a:off x="457200" y="2514600"/>
            <a:ext cx="73152" cy="64922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71600" y="3264408"/>
            <a:ext cx="9418320" cy="548640"/>
          </a:xfrm>
          <a:prstGeom prst="rect">
            <a:avLst/>
          </a:prstGeom>
          <a:solidFill>
            <a:srgbClr val="0D2A50"/>
          </a:solidFill>
          <a:ln w="25400">
            <a:solidFill>
              <a:srgbClr val="42A5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600">
                <a:solidFill>
                  <a:srgbClr val="BBDEFB"/>
                </a:solidFill>
                <a:latin typeface="Calibri"/>
              </a:defRPr>
            </a:pPr>
            <a:r>
              <a:t>How does your team prevent actual medication errors during downtime?</a:t>
            </a:r>
          </a:p>
        </p:txBody>
      </p:sp>
      <p:sp>
        <p:nvSpPr>
          <p:cNvPr id="9" name="TextBox 8"/>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7 / 35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5E20"/>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FFFFFF"/>
                </a:solidFill>
                <a:latin typeface="Calibri"/>
              </a:defRPr>
            </a:pPr>
            <a:r>
              <a:t>PAUSE -- TEAM DISCUSSION</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C8E6C9"/>
                </a:solidFill>
                <a:latin typeface="Calibri"/>
              </a:defRPr>
            </a:pPr>
            <a:r>
              <a:t>A near-miss just occurred. Your staff are scared.</a:t>
            </a:r>
          </a:p>
        </p:txBody>
      </p:sp>
      <p:sp>
        <p:nvSpPr>
          <p:cNvPr id="4" name="TextBox 3"/>
          <p:cNvSpPr txBox="1"/>
          <p:nvPr/>
        </p:nvSpPr>
        <p:spPr>
          <a:xfrm>
            <a:off x="1371600" y="1828800"/>
            <a:ext cx="9418320" cy="502920"/>
          </a:xfrm>
          <a:prstGeom prst="rect">
            <a:avLst/>
          </a:prstGeom>
          <a:noFill/>
        </p:spPr>
        <p:txBody>
          <a:bodyPr wrap="square">
            <a:spAutoFit/>
          </a:bodyPr>
          <a:lstStyle/>
          <a:p>
            <a:pPr algn="l">
              <a:defRPr sz="1800" b="0">
                <a:solidFill>
                  <a:srgbClr val="FFFFFF"/>
                </a:solidFill>
                <a:latin typeface="Calibri"/>
              </a:defRPr>
            </a:pPr>
            <a:r>
              <a:t>From your role's perspective: What is the immediate response?</a:t>
            </a:r>
          </a:p>
        </p:txBody>
      </p:sp>
      <p:sp>
        <p:nvSpPr>
          <p:cNvPr id="5" name="TextBox 4"/>
          <p:cNvSpPr txBox="1"/>
          <p:nvPr/>
        </p:nvSpPr>
        <p:spPr>
          <a:xfrm>
            <a:off x="1371600" y="2423160"/>
            <a:ext cx="9418320" cy="502920"/>
          </a:xfrm>
          <a:prstGeom prst="rect">
            <a:avLst/>
          </a:prstGeom>
          <a:noFill/>
        </p:spPr>
        <p:txBody>
          <a:bodyPr wrap="square">
            <a:spAutoFit/>
          </a:bodyPr>
          <a:lstStyle/>
          <a:p>
            <a:pPr algn="l">
              <a:defRPr sz="1800" b="0">
                <a:solidFill>
                  <a:srgbClr val="FFFFFF"/>
                </a:solidFill>
                <a:latin typeface="Calibri"/>
              </a:defRPr>
            </a:pPr>
            <a:r>
              <a:t>How do you prevent the next one from being an actual error?</a:t>
            </a:r>
          </a:p>
        </p:txBody>
      </p:sp>
      <p:sp>
        <p:nvSpPr>
          <p:cNvPr id="6" name="TextBox 5"/>
          <p:cNvSpPr txBox="1"/>
          <p:nvPr/>
        </p:nvSpPr>
        <p:spPr>
          <a:xfrm>
            <a:off x="914400" y="5303520"/>
            <a:ext cx="10332720" cy="365760"/>
          </a:xfrm>
          <a:prstGeom prst="rect">
            <a:avLst/>
          </a:prstGeom>
          <a:noFill/>
        </p:spPr>
        <p:txBody>
          <a:bodyPr wrap="square">
            <a:spAutoFit/>
          </a:bodyPr>
          <a:lstStyle/>
          <a:p>
            <a:pPr algn="ctr">
              <a:defRPr sz="1300" b="0">
                <a:solidFill>
                  <a:srgbClr val="A5D6A7"/>
                </a:solidFill>
                <a:latin typeface="Calibri"/>
              </a:defRPr>
            </a:pPr>
            <a:r>
              <a:t>Discuss, then log your decision in the student app.</a:t>
            </a:r>
          </a:p>
        </p:txBody>
      </p:sp>
      <p:sp>
        <p:nvSpPr>
          <p:cNvPr id="7" name="TextBox 6"/>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8 / 35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E94560"/>
                </a:solidFill>
                <a:latin typeface="Calibri"/>
              </a:defRPr>
            </a:pPr>
            <a:r>
              <a:t>INJECT: AMBULANCE DIVERSION REQUEST</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A0A0C0"/>
                </a:solidFill>
                <a:latin typeface="Calibri"/>
              </a:defRPr>
            </a:pPr>
            <a:r>
              <a:t>Hour 8</a:t>
            </a:r>
          </a:p>
        </p:txBody>
      </p:sp>
      <p:sp>
        <p:nvSpPr>
          <p:cNvPr id="4" name="Rectangle 3"/>
          <p:cNvSpPr/>
          <p:nvPr/>
        </p:nvSpPr>
        <p:spPr>
          <a:xfrm>
            <a:off x="457200" y="1554480"/>
            <a:ext cx="11247120" cy="649224"/>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The ED is overwhelmed. Without electronic triage or patient tracking,</a:t>
            </a:r>
            <a:br/>
            <a:r>
              <a:t>wait times have tripled. The ED Medical Director requests diversion.</a:t>
            </a:r>
          </a:p>
        </p:txBody>
      </p:sp>
      <p:sp>
        <p:nvSpPr>
          <p:cNvPr id="5" name="Rectangle 4"/>
          <p:cNvSpPr/>
          <p:nvPr/>
        </p:nvSpPr>
        <p:spPr>
          <a:xfrm>
            <a:off x="457200" y="1554480"/>
            <a:ext cx="73152" cy="64922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258568"/>
            <a:ext cx="11247120" cy="905256"/>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Nearest Level 1 trauma center: 45 minutes away.</a:t>
            </a:r>
            <a:br/>
            <a:r>
              <a:t>Only neonatal ICU in the region: yours.</a:t>
            </a:r>
            <a:br/>
            <a:r>
              <a:t>A pregnant woman at 36 weeks is in an ambulance en route to you right now.</a:t>
            </a:r>
          </a:p>
        </p:txBody>
      </p:sp>
      <p:sp>
        <p:nvSpPr>
          <p:cNvPr id="7" name="Rectangle 6"/>
          <p:cNvSpPr/>
          <p:nvPr/>
        </p:nvSpPr>
        <p:spPr>
          <a:xfrm>
            <a:off x="457200" y="2258568"/>
            <a:ext cx="73152" cy="905256"/>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71600" y="3264408"/>
            <a:ext cx="9418320" cy="548640"/>
          </a:xfrm>
          <a:prstGeom prst="rect">
            <a:avLst/>
          </a:prstGeom>
          <a:solidFill>
            <a:srgbClr val="0D2A50"/>
          </a:solidFill>
          <a:ln w="25400">
            <a:solidFill>
              <a:srgbClr val="42A5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600">
                <a:solidFill>
                  <a:srgbClr val="BBDEFB"/>
                </a:solidFill>
                <a:latin typeface="Calibri"/>
              </a:defRPr>
            </a:pPr>
            <a:r>
              <a:t>Do you approve diversion? What about the woman in the ambulance?</a:t>
            </a:r>
          </a:p>
        </p:txBody>
      </p:sp>
      <p:sp>
        <p:nvSpPr>
          <p:cNvPr id="9" name="TextBox 8"/>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9 / 35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5E20"/>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FFFFFF"/>
                </a:solidFill>
                <a:latin typeface="Calibri"/>
              </a:defRPr>
            </a:pPr>
            <a:r>
              <a:t>PAUSE -- TEAM DISCUSSION</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C8E6C9"/>
                </a:solidFill>
                <a:latin typeface="Calibri"/>
              </a:defRPr>
            </a:pPr>
            <a:r>
              <a:t>An ambulance with a pregnant patient is en route. Your ED is overwhelmed.</a:t>
            </a:r>
          </a:p>
        </p:txBody>
      </p:sp>
      <p:sp>
        <p:nvSpPr>
          <p:cNvPr id="4" name="TextBox 3"/>
          <p:cNvSpPr txBox="1"/>
          <p:nvPr/>
        </p:nvSpPr>
        <p:spPr>
          <a:xfrm>
            <a:off x="1371600" y="1828800"/>
            <a:ext cx="9418320" cy="502920"/>
          </a:xfrm>
          <a:prstGeom prst="rect">
            <a:avLst/>
          </a:prstGeom>
          <a:noFill/>
        </p:spPr>
        <p:txBody>
          <a:bodyPr wrap="square">
            <a:spAutoFit/>
          </a:bodyPr>
          <a:lstStyle/>
          <a:p>
            <a:pPr algn="l">
              <a:defRPr sz="1800" b="0">
                <a:solidFill>
                  <a:srgbClr val="FFFFFF"/>
                </a:solidFill>
                <a:latin typeface="Calibri"/>
              </a:defRPr>
            </a:pPr>
            <a:r>
              <a:t>Full diversion? Partial? Deny entirely?</a:t>
            </a:r>
          </a:p>
        </p:txBody>
      </p:sp>
      <p:sp>
        <p:nvSpPr>
          <p:cNvPr id="5" name="TextBox 4"/>
          <p:cNvSpPr txBox="1"/>
          <p:nvPr/>
        </p:nvSpPr>
        <p:spPr>
          <a:xfrm>
            <a:off x="1371600" y="2423160"/>
            <a:ext cx="9418320" cy="502920"/>
          </a:xfrm>
          <a:prstGeom prst="rect">
            <a:avLst/>
          </a:prstGeom>
          <a:noFill/>
        </p:spPr>
        <p:txBody>
          <a:bodyPr wrap="square">
            <a:spAutoFit/>
          </a:bodyPr>
          <a:lstStyle/>
          <a:p>
            <a:pPr algn="l">
              <a:defRPr sz="1800" b="0">
                <a:solidFill>
                  <a:srgbClr val="FFFFFF"/>
                </a:solidFill>
                <a:latin typeface="Calibri"/>
              </a:defRPr>
            </a:pPr>
            <a:r>
              <a:t>What do you tell the paramedics right now?</a:t>
            </a:r>
          </a:p>
        </p:txBody>
      </p:sp>
      <p:sp>
        <p:nvSpPr>
          <p:cNvPr id="6" name="TextBox 5"/>
          <p:cNvSpPr txBox="1"/>
          <p:nvPr/>
        </p:nvSpPr>
        <p:spPr>
          <a:xfrm>
            <a:off x="914400" y="5303520"/>
            <a:ext cx="10332720" cy="365760"/>
          </a:xfrm>
          <a:prstGeom prst="rect">
            <a:avLst/>
          </a:prstGeom>
          <a:noFill/>
        </p:spPr>
        <p:txBody>
          <a:bodyPr wrap="square">
            <a:spAutoFit/>
          </a:bodyPr>
          <a:lstStyle/>
          <a:p>
            <a:pPr algn="ctr">
              <a:defRPr sz="1300" b="0">
                <a:solidFill>
                  <a:srgbClr val="A5D6A7"/>
                </a:solidFill>
                <a:latin typeface="Calibri"/>
              </a:defRPr>
            </a:pPr>
            <a:r>
              <a:t>Discuss, then log your decision.</a:t>
            </a:r>
          </a:p>
        </p:txBody>
      </p:sp>
      <p:sp>
        <p:nvSpPr>
          <p:cNvPr id="7" name="TextBox 6"/>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10 / 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E94560"/>
                </a:solidFill>
                <a:latin typeface="Calibri"/>
              </a:defRPr>
            </a:pPr>
            <a:r>
              <a:t>INJECT: THE 19:00 SHIFT HANDOFF</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A0A0C0"/>
                </a:solidFill>
                <a:latin typeface="Calibri"/>
              </a:defRPr>
            </a:pPr>
            <a:r>
              <a:t>Hour 13</a:t>
            </a:r>
          </a:p>
        </p:txBody>
      </p:sp>
      <p:sp>
        <p:nvSpPr>
          <p:cNvPr id="4" name="Rectangle 3"/>
          <p:cNvSpPr/>
          <p:nvPr/>
        </p:nvSpPr>
        <p:spPr>
          <a:xfrm>
            <a:off x="457200" y="1554480"/>
            <a:ext cx="11247120" cy="649224"/>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Evening shift arriving. Day shift: 13 hours of crisis management.</a:t>
            </a:r>
            <a:br/>
            <a:r>
              <a:t>Evening staff have minimal information.</a:t>
            </a:r>
          </a:p>
        </p:txBody>
      </p:sp>
      <p:sp>
        <p:nvSpPr>
          <p:cNvPr id="5" name="Rectangle 4"/>
          <p:cNvSpPr/>
          <p:nvPr/>
        </p:nvSpPr>
        <p:spPr>
          <a:xfrm>
            <a:off x="457200" y="1554480"/>
            <a:ext cx="73152" cy="64922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258568"/>
            <a:ext cx="11247120" cy="167335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You must hand off:</a:t>
            </a:r>
            <a:br/>
            <a:r>
              <a:t>  - 287 inpatients -- all on paper</a:t>
            </a:r>
            <a:br/>
            <a:r>
              <a:t>  - Active downtime procedures</a:t>
            </a:r>
            <a:br/>
            <a:r>
              <a:t>  - Outstanding issues (near-miss, diversion status)</a:t>
            </a:r>
            <a:br/>
            <a:r>
              <a:t>  - Location of all paper records</a:t>
            </a:r>
            <a:br/>
            <a:r>
              <a:t>  - Emotional state of day-shift staff -- several nurses in tears</a:t>
            </a:r>
          </a:p>
        </p:txBody>
      </p:sp>
      <p:sp>
        <p:nvSpPr>
          <p:cNvPr id="7" name="Rectangle 6"/>
          <p:cNvSpPr/>
          <p:nvPr/>
        </p:nvSpPr>
        <p:spPr>
          <a:xfrm>
            <a:off x="457200" y="2258568"/>
            <a:ext cx="73152" cy="167335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71600" y="4032504"/>
            <a:ext cx="9418320" cy="548640"/>
          </a:xfrm>
          <a:prstGeom prst="rect">
            <a:avLst/>
          </a:prstGeom>
          <a:solidFill>
            <a:srgbClr val="0D2A50"/>
          </a:solidFill>
          <a:ln w="25400">
            <a:solidFill>
              <a:srgbClr val="42A5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600">
                <a:solidFill>
                  <a:srgbClr val="BBDEFB"/>
                </a:solidFill>
                <a:latin typeface="Calibri"/>
              </a:defRPr>
            </a:pPr>
            <a:r>
              <a:t>How do you hand off a paper-based hospital to staff who've never used paper?</a:t>
            </a:r>
          </a:p>
        </p:txBody>
      </p:sp>
      <p:sp>
        <p:nvSpPr>
          <p:cNvPr id="9" name="TextBox 8"/>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11 / 35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5E20"/>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FFFFFF"/>
                </a:solidFill>
                <a:latin typeface="Calibri"/>
              </a:defRPr>
            </a:pPr>
            <a:r>
              <a:t>PAUSE -- TEAM DISCUSSION</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C8E6C9"/>
                </a:solidFill>
                <a:latin typeface="Calibri"/>
              </a:defRPr>
            </a:pPr>
            <a:r>
              <a:t>Evening staff arriving. They know nothing about paper processes.</a:t>
            </a:r>
          </a:p>
        </p:txBody>
      </p:sp>
      <p:sp>
        <p:nvSpPr>
          <p:cNvPr id="4" name="TextBox 3"/>
          <p:cNvSpPr txBox="1"/>
          <p:nvPr/>
        </p:nvSpPr>
        <p:spPr>
          <a:xfrm>
            <a:off x="1371600" y="1828800"/>
            <a:ext cx="9418320" cy="502920"/>
          </a:xfrm>
          <a:prstGeom prst="rect">
            <a:avLst/>
          </a:prstGeom>
          <a:noFill/>
        </p:spPr>
        <p:txBody>
          <a:bodyPr wrap="square">
            <a:spAutoFit/>
          </a:bodyPr>
          <a:lstStyle/>
          <a:p>
            <a:pPr algn="l">
              <a:defRPr sz="1800" b="0">
                <a:solidFill>
                  <a:srgbClr val="FFFFFF"/>
                </a:solidFill>
                <a:latin typeface="Calibri"/>
              </a:defRPr>
            </a:pPr>
            <a:r>
              <a:t>How do you structure the handoff?</a:t>
            </a:r>
          </a:p>
        </p:txBody>
      </p:sp>
      <p:sp>
        <p:nvSpPr>
          <p:cNvPr id="5" name="TextBox 4"/>
          <p:cNvSpPr txBox="1"/>
          <p:nvPr/>
        </p:nvSpPr>
        <p:spPr>
          <a:xfrm>
            <a:off x="1371600" y="2423160"/>
            <a:ext cx="9418320" cy="502920"/>
          </a:xfrm>
          <a:prstGeom prst="rect">
            <a:avLst/>
          </a:prstGeom>
          <a:noFill/>
        </p:spPr>
        <p:txBody>
          <a:bodyPr wrap="square">
            <a:spAutoFit/>
          </a:bodyPr>
          <a:lstStyle/>
          <a:p>
            <a:pPr algn="l">
              <a:defRPr sz="1800" b="0">
                <a:solidFill>
                  <a:srgbClr val="FFFFFF"/>
                </a:solidFill>
                <a:latin typeface="Calibri"/>
              </a:defRPr>
            </a:pPr>
            <a:r>
              <a:t>Keep exhausted day-shift longer, or let them go?</a:t>
            </a:r>
          </a:p>
        </p:txBody>
      </p:sp>
      <p:sp>
        <p:nvSpPr>
          <p:cNvPr id="6" name="TextBox 5"/>
          <p:cNvSpPr txBox="1"/>
          <p:nvPr/>
        </p:nvSpPr>
        <p:spPr>
          <a:xfrm>
            <a:off x="914400" y="5303520"/>
            <a:ext cx="10332720" cy="365760"/>
          </a:xfrm>
          <a:prstGeom prst="rect">
            <a:avLst/>
          </a:prstGeom>
          <a:noFill/>
        </p:spPr>
        <p:txBody>
          <a:bodyPr wrap="square">
            <a:spAutoFit/>
          </a:bodyPr>
          <a:lstStyle/>
          <a:p>
            <a:pPr algn="ctr">
              <a:defRPr sz="1300" b="0">
                <a:solidFill>
                  <a:srgbClr val="A5D6A7"/>
                </a:solidFill>
                <a:latin typeface="Calibri"/>
              </a:defRPr>
            </a:pPr>
            <a:r>
              <a:t>Discuss, then log your decision.</a:t>
            </a:r>
          </a:p>
        </p:txBody>
      </p:sp>
      <p:sp>
        <p:nvSpPr>
          <p:cNvPr id="7" name="TextBox 6"/>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12 / 35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E94560"/>
                </a:solidFill>
                <a:latin typeface="Calibri"/>
              </a:defRPr>
            </a:pPr>
            <a:r>
              <a:t>INJECT: PAPER RECORDS CRISIS</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A0A0C0"/>
                </a:solidFill>
                <a:latin typeface="Calibri"/>
              </a:defRPr>
            </a:pPr>
            <a:r>
              <a:t>Hour 18</a:t>
            </a:r>
          </a:p>
        </p:txBody>
      </p:sp>
      <p:sp>
        <p:nvSpPr>
          <p:cNvPr id="4" name="Rectangle 3"/>
          <p:cNvSpPr/>
          <p:nvPr/>
        </p:nvSpPr>
        <p:spPr>
          <a:xfrm>
            <a:off x="457200" y="1554480"/>
            <a:ext cx="11247120" cy="649224"/>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3,200 pages of handwritten records accumulated.</a:t>
            </a:r>
            <a:br/>
            <a:r>
              <a:t>Quality audit of 50 records:</a:t>
            </a:r>
          </a:p>
        </p:txBody>
      </p:sp>
      <p:sp>
        <p:nvSpPr>
          <p:cNvPr id="5" name="Rectangle 4"/>
          <p:cNvSpPr/>
          <p:nvPr/>
        </p:nvSpPr>
        <p:spPr>
          <a:xfrm>
            <a:off x="457200" y="1554480"/>
            <a:ext cx="73152" cy="64922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258568"/>
            <a:ext cx="2157984" cy="914400"/>
          </a:xfrm>
          <a:prstGeom prst="rect">
            <a:avLst/>
          </a:prstGeom>
          <a:solidFill>
            <a:srgbClr val="1A1A2E"/>
          </a:solidFill>
          <a:ln w="1270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defRPr sz="2800" b="1">
                <a:solidFill>
                  <a:srgbClr val="E94560"/>
                </a:solidFill>
                <a:latin typeface="Courier New"/>
              </a:defRPr>
            </a:pPr>
            <a:r>
              <a:t>34%</a:t>
            </a:r>
          </a:p>
          <a:p>
            <a:pPr algn="ctr">
              <a:defRPr sz="1100">
                <a:solidFill>
                  <a:srgbClr val="A0A0C0"/>
                </a:solidFill>
                <a:latin typeface="Calibri"/>
              </a:defRPr>
            </a:pPr>
            <a:r>
              <a:t>Missing DOB</a:t>
            </a:r>
          </a:p>
        </p:txBody>
      </p:sp>
      <p:sp>
        <p:nvSpPr>
          <p:cNvPr id="7" name="Rectangle 6"/>
          <p:cNvSpPr/>
          <p:nvPr/>
        </p:nvSpPr>
        <p:spPr>
          <a:xfrm>
            <a:off x="2706624" y="2258568"/>
            <a:ext cx="2157984" cy="914400"/>
          </a:xfrm>
          <a:prstGeom prst="rect">
            <a:avLst/>
          </a:prstGeom>
          <a:solidFill>
            <a:srgbClr val="1A1A2E"/>
          </a:solidFill>
          <a:ln w="1270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defRPr sz="2800" b="1">
                <a:solidFill>
                  <a:srgbClr val="E94560"/>
                </a:solidFill>
                <a:latin typeface="Courier New"/>
              </a:defRPr>
            </a:pPr>
            <a:r>
              <a:t>22%</a:t>
            </a:r>
          </a:p>
          <a:p>
            <a:pPr algn="ctr">
              <a:defRPr sz="1100">
                <a:solidFill>
                  <a:srgbClr val="A0A0C0"/>
                </a:solidFill>
                <a:latin typeface="Calibri"/>
              </a:defRPr>
            </a:pPr>
            <a:r>
              <a:t>No Allergies</a:t>
            </a:r>
          </a:p>
        </p:txBody>
      </p:sp>
      <p:sp>
        <p:nvSpPr>
          <p:cNvPr id="8" name="Rectangle 7"/>
          <p:cNvSpPr/>
          <p:nvPr/>
        </p:nvSpPr>
        <p:spPr>
          <a:xfrm>
            <a:off x="4956048" y="2258568"/>
            <a:ext cx="2157984" cy="914400"/>
          </a:xfrm>
          <a:prstGeom prst="rect">
            <a:avLst/>
          </a:prstGeom>
          <a:solidFill>
            <a:srgbClr val="1A1A2E"/>
          </a:solidFill>
          <a:ln w="1270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defRPr sz="2800" b="1">
                <a:solidFill>
                  <a:srgbClr val="E94560"/>
                </a:solidFill>
                <a:latin typeface="Courier New"/>
              </a:defRPr>
            </a:pPr>
            <a:r>
              <a:t>18%</a:t>
            </a:r>
          </a:p>
          <a:p>
            <a:pPr algn="ctr">
              <a:defRPr sz="1100">
                <a:solidFill>
                  <a:srgbClr val="A0A0C0"/>
                </a:solidFill>
                <a:latin typeface="Calibri"/>
              </a:defRPr>
            </a:pPr>
            <a:r>
              <a:t>Illegible</a:t>
            </a:r>
          </a:p>
        </p:txBody>
      </p:sp>
      <p:sp>
        <p:nvSpPr>
          <p:cNvPr id="9" name="Rectangle 8"/>
          <p:cNvSpPr/>
          <p:nvPr/>
        </p:nvSpPr>
        <p:spPr>
          <a:xfrm>
            <a:off x="7205472" y="2258568"/>
            <a:ext cx="2157984" cy="914400"/>
          </a:xfrm>
          <a:prstGeom prst="rect">
            <a:avLst/>
          </a:prstGeom>
          <a:solidFill>
            <a:srgbClr val="1A1A2E"/>
          </a:solidFill>
          <a:ln w="1270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defRPr sz="2800" b="1">
                <a:solidFill>
                  <a:srgbClr val="E94560"/>
                </a:solidFill>
                <a:latin typeface="Courier New"/>
              </a:defRPr>
            </a:pPr>
            <a:r>
              <a:t>11%</a:t>
            </a:r>
          </a:p>
          <a:p>
            <a:pPr algn="ctr">
              <a:defRPr sz="1100">
                <a:solidFill>
                  <a:srgbClr val="A0A0C0"/>
                </a:solidFill>
                <a:latin typeface="Calibri"/>
              </a:defRPr>
            </a:pPr>
            <a:r>
              <a:t>Can't Match</a:t>
            </a:r>
            <a:br/>
            <a:r>
              <a:t>to Patient</a:t>
            </a:r>
          </a:p>
        </p:txBody>
      </p:sp>
      <p:sp>
        <p:nvSpPr>
          <p:cNvPr id="10" name="Rectangle 9"/>
          <p:cNvSpPr/>
          <p:nvPr/>
        </p:nvSpPr>
        <p:spPr>
          <a:xfrm>
            <a:off x="9454896" y="2258568"/>
            <a:ext cx="2157984" cy="914400"/>
          </a:xfrm>
          <a:prstGeom prst="rect">
            <a:avLst/>
          </a:prstGeom>
          <a:solidFill>
            <a:srgbClr val="1A1A2E"/>
          </a:solidFill>
          <a:ln w="1270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defRPr sz="2800" b="1">
                <a:solidFill>
                  <a:srgbClr val="E94560"/>
                </a:solidFill>
                <a:latin typeface="Courier New"/>
              </a:defRPr>
            </a:pPr>
            <a:r>
              <a:t>4</a:t>
            </a:r>
          </a:p>
          <a:p>
            <a:pPr algn="ctr">
              <a:defRPr sz="1100">
                <a:solidFill>
                  <a:srgbClr val="A0A0C0"/>
                </a:solidFill>
                <a:latin typeface="Calibri"/>
              </a:defRPr>
            </a:pPr>
            <a:r>
              <a:t>Duplicates</a:t>
            </a:r>
          </a:p>
        </p:txBody>
      </p:sp>
      <p:sp>
        <p:nvSpPr>
          <p:cNvPr id="11" name="Rectangle 10"/>
          <p:cNvSpPr/>
          <p:nvPr/>
        </p:nvSpPr>
        <p:spPr>
          <a:xfrm>
            <a:off x="1371600" y="3355848"/>
            <a:ext cx="9418320" cy="548640"/>
          </a:xfrm>
          <a:prstGeom prst="rect">
            <a:avLst/>
          </a:prstGeom>
          <a:solidFill>
            <a:srgbClr val="0D2A50"/>
          </a:solidFill>
          <a:ln w="25400">
            <a:solidFill>
              <a:srgbClr val="42A5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600">
                <a:solidFill>
                  <a:srgbClr val="BBDEFB"/>
                </a:solidFill>
                <a:latin typeface="Calibri"/>
              </a:defRPr>
            </a:pPr>
            <a:r>
              <a:t>How do you manage the backlog while maintaining data integrity?</a:t>
            </a:r>
          </a:p>
        </p:txBody>
      </p:sp>
      <p:sp>
        <p:nvSpPr>
          <p:cNvPr id="12" name="TextBox 11"/>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13 / 35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5E20"/>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FFFFFF"/>
                </a:solidFill>
                <a:latin typeface="Calibri"/>
              </a:defRPr>
            </a:pPr>
            <a:r>
              <a:t>PAUSE -- TEAM DISCUSSION</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C8E6C9"/>
                </a:solidFill>
                <a:latin typeface="Calibri"/>
              </a:defRPr>
            </a:pPr>
            <a:r>
              <a:t>3,200 pages. 11% unmatched. Illegible handwriting. Exhausted staff.</a:t>
            </a:r>
          </a:p>
        </p:txBody>
      </p:sp>
      <p:sp>
        <p:nvSpPr>
          <p:cNvPr id="4" name="TextBox 3"/>
          <p:cNvSpPr txBox="1"/>
          <p:nvPr/>
        </p:nvSpPr>
        <p:spPr>
          <a:xfrm>
            <a:off x="1371600" y="1828800"/>
            <a:ext cx="9418320" cy="502920"/>
          </a:xfrm>
          <a:prstGeom prst="rect">
            <a:avLst/>
          </a:prstGeom>
          <a:noFill/>
        </p:spPr>
        <p:txBody>
          <a:bodyPr wrap="square">
            <a:spAutoFit/>
          </a:bodyPr>
          <a:lstStyle/>
          <a:p>
            <a:pPr algn="l">
              <a:defRPr sz="1800" b="0">
                <a:solidFill>
                  <a:srgbClr val="FFFFFF"/>
                </a:solidFill>
                <a:latin typeface="Calibri"/>
              </a:defRPr>
            </a:pPr>
            <a:r>
              <a:t>What is your data management strategy?</a:t>
            </a:r>
          </a:p>
        </p:txBody>
      </p:sp>
      <p:sp>
        <p:nvSpPr>
          <p:cNvPr id="5" name="TextBox 4"/>
          <p:cNvSpPr txBox="1"/>
          <p:nvPr/>
        </p:nvSpPr>
        <p:spPr>
          <a:xfrm>
            <a:off x="1371600" y="2423160"/>
            <a:ext cx="9418320" cy="502920"/>
          </a:xfrm>
          <a:prstGeom prst="rect">
            <a:avLst/>
          </a:prstGeom>
          <a:noFill/>
        </p:spPr>
        <p:txBody>
          <a:bodyPr wrap="square">
            <a:spAutoFit/>
          </a:bodyPr>
          <a:lstStyle/>
          <a:p>
            <a:pPr algn="l">
              <a:defRPr sz="1800" b="0">
                <a:solidFill>
                  <a:srgbClr val="FFFFFF"/>
                </a:solidFill>
                <a:latin typeface="Calibri"/>
              </a:defRPr>
            </a:pPr>
            <a:r>
              <a:t>How will you handle back-entry when systems return?</a:t>
            </a:r>
          </a:p>
        </p:txBody>
      </p:sp>
      <p:sp>
        <p:nvSpPr>
          <p:cNvPr id="6" name="TextBox 5"/>
          <p:cNvSpPr txBox="1"/>
          <p:nvPr/>
        </p:nvSpPr>
        <p:spPr>
          <a:xfrm>
            <a:off x="914400" y="5303520"/>
            <a:ext cx="10332720" cy="365760"/>
          </a:xfrm>
          <a:prstGeom prst="rect">
            <a:avLst/>
          </a:prstGeom>
          <a:noFill/>
        </p:spPr>
        <p:txBody>
          <a:bodyPr wrap="square">
            <a:spAutoFit/>
          </a:bodyPr>
          <a:lstStyle/>
          <a:p>
            <a:pPr algn="ctr">
              <a:defRPr sz="1300" b="0">
                <a:solidFill>
                  <a:srgbClr val="A5D6A7"/>
                </a:solidFill>
                <a:latin typeface="Calibri"/>
              </a:defRPr>
            </a:pPr>
            <a:r>
              <a:t>Discuss, then log your decision. After this, we take a break.</a:t>
            </a:r>
          </a:p>
        </p:txBody>
      </p:sp>
      <p:sp>
        <p:nvSpPr>
          <p:cNvPr id="7" name="TextBox 6"/>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14 / 35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4A148C"/>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FFFFFF"/>
                </a:solidFill>
                <a:latin typeface="Calibri"/>
              </a:defRPr>
            </a:pPr>
            <a:r>
              <a:t>BREAK</a:t>
            </a:r>
          </a:p>
        </p:txBody>
      </p:sp>
      <p:sp>
        <p:nvSpPr>
          <p:cNvPr id="3" name="TextBox 2"/>
          <p:cNvSpPr txBox="1"/>
          <p:nvPr/>
        </p:nvSpPr>
        <p:spPr>
          <a:xfrm>
            <a:off x="1371600" y="2286000"/>
            <a:ext cx="9418320" cy="3657600"/>
          </a:xfrm>
          <a:prstGeom prst="rect">
            <a:avLst/>
          </a:prstGeom>
          <a:noFill/>
        </p:spPr>
        <p:txBody>
          <a:bodyPr wrap="square">
            <a:spAutoFit/>
          </a:bodyPr>
          <a:lstStyle/>
          <a:p>
            <a:pPr algn="ctr">
              <a:spcAft>
                <a:spcPts val="800"/>
              </a:spcAft>
              <a:defRPr sz="2000" b="0">
                <a:solidFill>
                  <a:srgbClr val="CE93D8"/>
                </a:solidFill>
                <a:latin typeface="Calibri"/>
              </a:defRPr>
            </a:pPr>
            <a:r>
              <a:t>20 minutes. The crisis does not pause, but you can.</a:t>
            </a:r>
          </a:p>
          <a:p>
            <a:pPr algn="ctr">
              <a:spcAft>
                <a:spcPts val="800"/>
              </a:spcAft>
              <a:defRPr sz="2000" b="0">
                <a:solidFill>
                  <a:srgbClr val="CE93D8"/>
                </a:solidFill>
                <a:latin typeface="Calibri"/>
              </a:defRPr>
            </a:pPr>
          </a:p>
          <a:p>
            <a:pPr algn="ctr">
              <a:spcAft>
                <a:spcPts val="800"/>
              </a:spcAft>
              <a:defRPr sz="2000" b="0">
                <a:solidFill>
                  <a:srgbClr val="CE93D8"/>
                </a:solidFill>
                <a:latin typeface="Calibri"/>
              </a:defRPr>
            </a:pPr>
            <a:r>
              <a:t>When you return, it will be Hour 24.</a:t>
            </a:r>
          </a:p>
          <a:p>
            <a:pPr algn="ctr">
              <a:spcAft>
                <a:spcPts val="800"/>
              </a:spcAft>
              <a:defRPr sz="2000" b="0">
                <a:solidFill>
                  <a:srgbClr val="CE93D8"/>
                </a:solidFill>
                <a:latin typeface="Calibri"/>
              </a:defRPr>
            </a:pPr>
            <a:r>
              <a:t>The media are calling. Families are arriving. Staff are breaking.</a:t>
            </a:r>
          </a:p>
          <a:p>
            <a:pPr algn="ctr">
              <a:spcAft>
                <a:spcPts val="800"/>
              </a:spcAft>
              <a:defRPr sz="2000" b="0">
                <a:solidFill>
                  <a:srgbClr val="CE93D8"/>
                </a:solidFill>
                <a:latin typeface="Calibri"/>
              </a:defRPr>
            </a:pPr>
            <a:r>
              <a:t>The pressure is about to intensify.</a:t>
            </a:r>
          </a:p>
        </p:txBody>
      </p:sp>
      <p:sp>
        <p:nvSpPr>
          <p:cNvPr id="4" name="TextBox 3"/>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15 / 35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E94560"/>
                </a:solidFill>
                <a:latin typeface="Calibri"/>
              </a:defRPr>
            </a:pPr>
            <a:r>
              <a:t>ESCALATION &amp; STAKEHOLDER PRESSURE</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A0A0C0"/>
                </a:solidFill>
                <a:latin typeface="Calibri"/>
              </a:defRPr>
            </a:pPr>
            <a:r>
              <a:t>Tuesday -- Hour 24 to 48  |  Day 2</a:t>
            </a:r>
          </a:p>
        </p:txBody>
      </p:sp>
      <p:sp>
        <p:nvSpPr>
          <p:cNvPr id="4" name="Rectangle 3"/>
          <p:cNvSpPr/>
          <p:nvPr/>
        </p:nvSpPr>
        <p:spPr>
          <a:xfrm>
            <a:off x="457200" y="1554480"/>
            <a:ext cx="11247120" cy="64008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2200" b="1">
                <a:solidFill>
                  <a:srgbClr val="FFFFFF"/>
                </a:solidFill>
                <a:latin typeface="Calibri"/>
              </a:defRPr>
            </a:pPr>
            <a:r>
              <a:t>24 HOURS OF DOWNTIME -- EXTERNAL PRESSURE MOUNTING</a:t>
            </a:r>
          </a:p>
        </p:txBody>
      </p:sp>
      <p:sp>
        <p:nvSpPr>
          <p:cNvPr id="5" name="Rectangle 4"/>
          <p:cNvSpPr/>
          <p:nvPr/>
        </p:nvSpPr>
        <p:spPr>
          <a:xfrm>
            <a:off x="457200" y="2331720"/>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EHR (DPI)  [DOWN]</a:t>
            </a:r>
          </a:p>
        </p:txBody>
      </p:sp>
      <p:sp>
        <p:nvSpPr>
          <p:cNvPr id="6" name="Rectangle 5"/>
          <p:cNvSpPr/>
          <p:nvPr/>
        </p:nvSpPr>
        <p:spPr>
          <a:xfrm>
            <a:off x="2743200" y="2331720"/>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Lab (LIS)  [DOWN]</a:t>
            </a:r>
          </a:p>
        </p:txBody>
      </p:sp>
      <p:sp>
        <p:nvSpPr>
          <p:cNvPr id="7" name="Rectangle 6"/>
          <p:cNvSpPr/>
          <p:nvPr/>
        </p:nvSpPr>
        <p:spPr>
          <a:xfrm>
            <a:off x="5029200" y="2331720"/>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PACS  [DOWN]</a:t>
            </a:r>
          </a:p>
        </p:txBody>
      </p:sp>
      <p:sp>
        <p:nvSpPr>
          <p:cNvPr id="8" name="Rectangle 7"/>
          <p:cNvSpPr/>
          <p:nvPr/>
        </p:nvSpPr>
        <p:spPr>
          <a:xfrm>
            <a:off x="7315200" y="2331720"/>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Pharmacy  [DOWN]</a:t>
            </a:r>
          </a:p>
        </p:txBody>
      </p:sp>
      <p:sp>
        <p:nvSpPr>
          <p:cNvPr id="9" name="Rectangle 8"/>
          <p:cNvSpPr/>
          <p:nvPr/>
        </p:nvSpPr>
        <p:spPr>
          <a:xfrm>
            <a:off x="9601200" y="2331720"/>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Patient Portal  [DOWN]</a:t>
            </a:r>
          </a:p>
        </p:txBody>
      </p:sp>
      <p:sp>
        <p:nvSpPr>
          <p:cNvPr id="10" name="Rectangle 9"/>
          <p:cNvSpPr/>
          <p:nvPr/>
        </p:nvSpPr>
        <p:spPr>
          <a:xfrm>
            <a:off x="457200" y="2862072"/>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Email  [DOWN]</a:t>
            </a:r>
          </a:p>
        </p:txBody>
      </p:sp>
      <p:sp>
        <p:nvSpPr>
          <p:cNvPr id="11" name="Rectangle 10"/>
          <p:cNvSpPr/>
          <p:nvPr/>
        </p:nvSpPr>
        <p:spPr>
          <a:xfrm>
            <a:off x="2743200" y="2862072"/>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Scheduling  [DOWN]</a:t>
            </a:r>
          </a:p>
        </p:txBody>
      </p:sp>
      <p:sp>
        <p:nvSpPr>
          <p:cNvPr id="12" name="Rectangle 11"/>
          <p:cNvSpPr/>
          <p:nvPr/>
        </p:nvSpPr>
        <p:spPr>
          <a:xfrm>
            <a:off x="5029200" y="2862072"/>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Billing  [DOWN]</a:t>
            </a:r>
          </a:p>
        </p:txBody>
      </p:sp>
      <p:sp>
        <p:nvSpPr>
          <p:cNvPr id="13" name="Rectangle 12"/>
          <p:cNvSpPr/>
          <p:nvPr/>
        </p:nvSpPr>
        <p:spPr>
          <a:xfrm>
            <a:off x="7315200" y="2862072"/>
            <a:ext cx="2194560" cy="4572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Nurse Call</a:t>
            </a:r>
          </a:p>
        </p:txBody>
      </p:sp>
      <p:sp>
        <p:nvSpPr>
          <p:cNvPr id="14" name="Rectangle 13"/>
          <p:cNvSpPr/>
          <p:nvPr/>
        </p:nvSpPr>
        <p:spPr>
          <a:xfrm>
            <a:off x="9601200" y="2862072"/>
            <a:ext cx="2194560" cy="4572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Badge Access</a:t>
            </a:r>
          </a:p>
        </p:txBody>
      </p:sp>
      <p:sp>
        <p:nvSpPr>
          <p:cNvPr id="15" name="Rectangle 14"/>
          <p:cNvSpPr/>
          <p:nvPr/>
        </p:nvSpPr>
        <p:spPr>
          <a:xfrm>
            <a:off x="457200" y="3575304"/>
            <a:ext cx="2157984" cy="914400"/>
          </a:xfrm>
          <a:prstGeom prst="rect">
            <a:avLst/>
          </a:prstGeom>
          <a:solidFill>
            <a:srgbClr val="1A1A2E"/>
          </a:solidFill>
          <a:ln w="1270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defRPr sz="2800" b="1">
                <a:solidFill>
                  <a:srgbClr val="E94560"/>
                </a:solidFill>
                <a:latin typeface="Courier New"/>
              </a:defRPr>
            </a:pPr>
            <a:r>
              <a:t>24h</a:t>
            </a:r>
          </a:p>
          <a:p>
            <a:pPr algn="ctr">
              <a:defRPr sz="1100">
                <a:solidFill>
                  <a:srgbClr val="A0A0C0"/>
                </a:solidFill>
                <a:latin typeface="Calibri"/>
              </a:defRPr>
            </a:pPr>
            <a:r>
              <a:t>Downtime</a:t>
            </a:r>
          </a:p>
        </p:txBody>
      </p:sp>
      <p:sp>
        <p:nvSpPr>
          <p:cNvPr id="16" name="Rectangle 15"/>
          <p:cNvSpPr/>
          <p:nvPr/>
        </p:nvSpPr>
        <p:spPr>
          <a:xfrm>
            <a:off x="2706624" y="3575304"/>
            <a:ext cx="2157984" cy="914400"/>
          </a:xfrm>
          <a:prstGeom prst="rect">
            <a:avLst/>
          </a:prstGeom>
          <a:solidFill>
            <a:srgbClr val="1A1A2E"/>
          </a:solidFill>
          <a:ln w="1270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defRPr sz="2800" b="1">
                <a:solidFill>
                  <a:srgbClr val="E94560"/>
                </a:solidFill>
                <a:latin typeface="Courier New"/>
              </a:defRPr>
            </a:pPr>
            <a:r>
              <a:t>3,200</a:t>
            </a:r>
          </a:p>
          <a:p>
            <a:pPr algn="ctr">
              <a:defRPr sz="1100">
                <a:solidFill>
                  <a:srgbClr val="A0A0C0"/>
                </a:solidFill>
                <a:latin typeface="Calibri"/>
              </a:defRPr>
            </a:pPr>
            <a:r>
              <a:t>Paper Records</a:t>
            </a:r>
          </a:p>
        </p:txBody>
      </p:sp>
      <p:sp>
        <p:nvSpPr>
          <p:cNvPr id="17" name="Rectangle 16"/>
          <p:cNvSpPr/>
          <p:nvPr/>
        </p:nvSpPr>
        <p:spPr>
          <a:xfrm>
            <a:off x="4956048" y="3575304"/>
            <a:ext cx="2157984" cy="914400"/>
          </a:xfrm>
          <a:prstGeom prst="rect">
            <a:avLst/>
          </a:prstGeom>
          <a:solidFill>
            <a:srgbClr val="1A1A2E"/>
          </a:solidFill>
          <a:ln w="1270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defRPr sz="2800" b="1">
                <a:solidFill>
                  <a:srgbClr val="E94560"/>
                </a:solidFill>
                <a:latin typeface="Courier New"/>
              </a:defRPr>
            </a:pPr>
            <a:r>
              <a:t>23</a:t>
            </a:r>
          </a:p>
          <a:p>
            <a:pPr algn="ctr">
              <a:defRPr sz="1100">
                <a:solidFill>
                  <a:srgbClr val="A0A0C0"/>
                </a:solidFill>
                <a:latin typeface="Calibri"/>
              </a:defRPr>
            </a:pPr>
            <a:r>
              <a:t>Surgeries Canceled</a:t>
            </a:r>
          </a:p>
        </p:txBody>
      </p:sp>
      <p:sp>
        <p:nvSpPr>
          <p:cNvPr id="18" name="Rectangle 17"/>
          <p:cNvSpPr/>
          <p:nvPr/>
        </p:nvSpPr>
        <p:spPr>
          <a:xfrm>
            <a:off x="7205472" y="3575304"/>
            <a:ext cx="2157984" cy="914400"/>
          </a:xfrm>
          <a:prstGeom prst="rect">
            <a:avLst/>
          </a:prstGeom>
          <a:solidFill>
            <a:srgbClr val="1A1A2E"/>
          </a:solidFill>
          <a:ln w="1270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defRPr sz="2800" b="1">
                <a:solidFill>
                  <a:srgbClr val="E94560"/>
                </a:solidFill>
                <a:latin typeface="Courier New"/>
              </a:defRPr>
            </a:pPr>
            <a:r>
              <a:t>14</a:t>
            </a:r>
          </a:p>
          <a:p>
            <a:pPr algn="ctr">
              <a:defRPr sz="1100">
                <a:solidFill>
                  <a:srgbClr val="A0A0C0"/>
                </a:solidFill>
                <a:latin typeface="Calibri"/>
              </a:defRPr>
            </a:pPr>
            <a:r>
              <a:t>Diverted</a:t>
            </a:r>
          </a:p>
        </p:txBody>
      </p:sp>
      <p:sp>
        <p:nvSpPr>
          <p:cNvPr id="19" name="Rectangle 18"/>
          <p:cNvSpPr/>
          <p:nvPr/>
        </p:nvSpPr>
        <p:spPr>
          <a:xfrm>
            <a:off x="9454896" y="3575304"/>
            <a:ext cx="2157984" cy="914400"/>
          </a:xfrm>
          <a:prstGeom prst="rect">
            <a:avLst/>
          </a:prstGeom>
          <a:solidFill>
            <a:srgbClr val="1A1A2E"/>
          </a:solidFill>
          <a:ln w="1270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defRPr sz="2800" b="1">
                <a:solidFill>
                  <a:srgbClr val="E94560"/>
                </a:solidFill>
                <a:latin typeface="Courier New"/>
              </a:defRPr>
            </a:pPr>
            <a:r>
              <a:t>€240K</a:t>
            </a:r>
          </a:p>
          <a:p>
            <a:pPr algn="ctr">
              <a:defRPr sz="1100">
                <a:solidFill>
                  <a:srgbClr val="A0A0C0"/>
                </a:solidFill>
                <a:latin typeface="Calibri"/>
              </a:defRPr>
            </a:pPr>
            <a:r>
              <a:t>Revenue Lost</a:t>
            </a:r>
          </a:p>
        </p:txBody>
      </p:sp>
      <p:sp>
        <p:nvSpPr>
          <p:cNvPr id="20" name="TextBox 19"/>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16 / 35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E94560"/>
                </a:solidFill>
                <a:latin typeface="Calibri"/>
              </a:defRPr>
            </a:pPr>
            <a:r>
              <a:t>THE STORY BREAKS</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A0A0C0"/>
                </a:solidFill>
                <a:latin typeface="Calibri"/>
              </a:defRPr>
            </a:pPr>
            <a:r>
              <a:t>Hour 26</a:t>
            </a:r>
          </a:p>
        </p:txBody>
      </p:sp>
      <p:sp>
        <p:nvSpPr>
          <p:cNvPr id="4" name="TextBox 3"/>
          <p:cNvSpPr txBox="1"/>
          <p:nvPr/>
        </p:nvSpPr>
        <p:spPr>
          <a:xfrm>
            <a:off x="731520" y="1554480"/>
            <a:ext cx="10698480" cy="365760"/>
          </a:xfrm>
          <a:prstGeom prst="rect">
            <a:avLst/>
          </a:prstGeom>
          <a:noFill/>
        </p:spPr>
        <p:txBody>
          <a:bodyPr wrap="square">
            <a:spAutoFit/>
          </a:bodyPr>
          <a:lstStyle/>
          <a:p>
            <a:pPr algn="l">
              <a:defRPr sz="1400" b="1">
                <a:solidFill>
                  <a:srgbClr val="E94560"/>
                </a:solidFill>
                <a:latin typeface="Calibri"/>
              </a:defRPr>
            </a:pPr>
            <a:r>
              <a:t>BREAKING -- France 3 Auvergne-Rhone-Alpes -- 12:00 Noon</a:t>
            </a:r>
          </a:p>
        </p:txBody>
      </p:sp>
      <p:sp>
        <p:nvSpPr>
          <p:cNvPr id="5" name="Rectangle 4"/>
          <p:cNvSpPr/>
          <p:nvPr/>
        </p:nvSpPr>
        <p:spPr>
          <a:xfrm>
            <a:off x="731520" y="2011680"/>
            <a:ext cx="10698480" cy="1371600"/>
          </a:xfrm>
          <a:prstGeom prst="rect">
            <a:avLst/>
          </a:prstGeom>
          <a:solidFill>
            <a:srgbClr val="1A1A2E"/>
          </a:solidFill>
          <a:ln w="2540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spcBef>
                <a:spcPts val="800"/>
              </a:spcBef>
              <a:defRPr sz="1500">
                <a:solidFill>
                  <a:srgbClr val="E0E0F0"/>
                </a:solidFill>
                <a:latin typeface="Calibri"/>
              </a:defRPr>
            </a:pPr>
            <a:r>
              <a:t>"Centre Hospitalier Sainte-Claire has been operating without its computer systems for over 24 hours following what sources describe as a 'major cyberattack.' Ambulances have been diverted. A hospital spokesperson confirmed a 'technology disruption' but declined to provide details. Patient advocacy groups demand transparency. The ARS says it is 'monitoring the situation.'"</a:t>
            </a:r>
          </a:p>
        </p:txBody>
      </p:sp>
      <p:sp>
        <p:nvSpPr>
          <p:cNvPr id="6" name="Rectangle 5"/>
          <p:cNvSpPr/>
          <p:nvPr/>
        </p:nvSpPr>
        <p:spPr>
          <a:xfrm>
            <a:off x="1371600" y="3566160"/>
            <a:ext cx="9418320" cy="548640"/>
          </a:xfrm>
          <a:prstGeom prst="rect">
            <a:avLst/>
          </a:prstGeom>
          <a:solidFill>
            <a:srgbClr val="0D2A50"/>
          </a:solidFill>
          <a:ln w="25400">
            <a:solidFill>
              <a:srgbClr val="42A5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600">
                <a:solidFill>
                  <a:srgbClr val="BBDEFB"/>
                </a:solidFill>
                <a:latin typeface="Calibri"/>
              </a:defRPr>
            </a:pPr>
            <a:r>
              <a:t>The phone is ringing. Media, patients, families. How do you respond?</a:t>
            </a:r>
          </a:p>
        </p:txBody>
      </p:sp>
      <p:sp>
        <p:nvSpPr>
          <p:cNvPr id="7" name="TextBox 6"/>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17 / 35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5E20"/>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FFFFFF"/>
                </a:solidFill>
                <a:latin typeface="Calibri"/>
              </a:defRPr>
            </a:pPr>
            <a:r>
              <a:t>PAUSE -- TEAM DISCUSSION</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C8E6C9"/>
                </a:solidFill>
                <a:latin typeface="Calibri"/>
              </a:defRPr>
            </a:pPr>
            <a:r>
              <a:t>The story is on television. Your phone lines are overwhelmed.</a:t>
            </a:r>
          </a:p>
        </p:txBody>
      </p:sp>
      <p:sp>
        <p:nvSpPr>
          <p:cNvPr id="4" name="TextBox 3"/>
          <p:cNvSpPr txBox="1"/>
          <p:nvPr/>
        </p:nvSpPr>
        <p:spPr>
          <a:xfrm>
            <a:off x="1371600" y="1828800"/>
            <a:ext cx="9418320" cy="502920"/>
          </a:xfrm>
          <a:prstGeom prst="rect">
            <a:avLst/>
          </a:prstGeom>
          <a:noFill/>
        </p:spPr>
        <p:txBody>
          <a:bodyPr wrap="square">
            <a:spAutoFit/>
          </a:bodyPr>
          <a:lstStyle/>
          <a:p>
            <a:pPr algn="l">
              <a:defRPr sz="1800" b="0">
                <a:solidFill>
                  <a:srgbClr val="FFFFFF"/>
                </a:solidFill>
                <a:latin typeface="Calibri"/>
              </a:defRPr>
            </a:pPr>
            <a:r>
              <a:t>Press conference? Written statement? Full transparency?</a:t>
            </a:r>
          </a:p>
        </p:txBody>
      </p:sp>
      <p:sp>
        <p:nvSpPr>
          <p:cNvPr id="5" name="TextBox 4"/>
          <p:cNvSpPr txBox="1"/>
          <p:nvPr/>
        </p:nvSpPr>
        <p:spPr>
          <a:xfrm>
            <a:off x="1371600" y="2423160"/>
            <a:ext cx="9418320" cy="502920"/>
          </a:xfrm>
          <a:prstGeom prst="rect">
            <a:avLst/>
          </a:prstGeom>
          <a:noFill/>
        </p:spPr>
        <p:txBody>
          <a:bodyPr wrap="square">
            <a:spAutoFit/>
          </a:bodyPr>
          <a:lstStyle/>
          <a:p>
            <a:pPr algn="l">
              <a:defRPr sz="1800" b="0">
                <a:solidFill>
                  <a:srgbClr val="FFFFFF"/>
                </a:solidFill>
                <a:latin typeface="Calibri"/>
              </a:defRPr>
            </a:pPr>
            <a:r>
              <a:t>Who is the spokesperson? What is the ONE key message?</a:t>
            </a:r>
          </a:p>
        </p:txBody>
      </p:sp>
      <p:sp>
        <p:nvSpPr>
          <p:cNvPr id="6" name="TextBox 5"/>
          <p:cNvSpPr txBox="1"/>
          <p:nvPr/>
        </p:nvSpPr>
        <p:spPr>
          <a:xfrm>
            <a:off x="914400" y="5303520"/>
            <a:ext cx="10332720" cy="365760"/>
          </a:xfrm>
          <a:prstGeom prst="rect">
            <a:avLst/>
          </a:prstGeom>
          <a:noFill/>
        </p:spPr>
        <p:txBody>
          <a:bodyPr wrap="square">
            <a:spAutoFit/>
          </a:bodyPr>
          <a:lstStyle/>
          <a:p>
            <a:pPr algn="ctr">
              <a:defRPr sz="1300" b="0">
                <a:solidFill>
                  <a:srgbClr val="A5D6A7"/>
                </a:solidFill>
                <a:latin typeface="Calibri"/>
              </a:defRPr>
            </a:pPr>
            <a:r>
              <a:t>Discuss, then log your decision.</a:t>
            </a:r>
          </a:p>
        </p:txBody>
      </p:sp>
      <p:sp>
        <p:nvSpPr>
          <p:cNvPr id="7" name="TextBox 6"/>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18 / 35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E94560"/>
                </a:solidFill>
                <a:latin typeface="Calibri"/>
              </a:defRPr>
            </a:pPr>
            <a:r>
              <a:t>A FAMILY DEMANDS ANSWERS</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A0A0C0"/>
                </a:solidFill>
                <a:latin typeface="Calibri"/>
              </a:defRPr>
            </a:pPr>
            <a:r>
              <a:t>Hour 28</a:t>
            </a:r>
          </a:p>
        </p:txBody>
      </p:sp>
      <p:sp>
        <p:nvSpPr>
          <p:cNvPr id="4" name="TextBox 3"/>
          <p:cNvSpPr txBox="1"/>
          <p:nvPr/>
        </p:nvSpPr>
        <p:spPr>
          <a:xfrm>
            <a:off x="731520" y="1554480"/>
            <a:ext cx="10698480" cy="274320"/>
          </a:xfrm>
          <a:prstGeom prst="rect">
            <a:avLst/>
          </a:prstGeom>
          <a:noFill/>
        </p:spPr>
        <p:txBody>
          <a:bodyPr wrap="square">
            <a:spAutoFit/>
          </a:bodyPr>
          <a:lstStyle/>
          <a:p>
            <a:pPr algn="l">
              <a:defRPr sz="1200" b="1">
                <a:solidFill>
                  <a:srgbClr val="AB47BC"/>
                </a:solidFill>
                <a:latin typeface="Calibri"/>
              </a:defRPr>
            </a:pPr>
            <a:r>
              <a:t>Scene: Hospital Main Lobby</a:t>
            </a:r>
          </a:p>
        </p:txBody>
      </p:sp>
      <p:sp>
        <p:nvSpPr>
          <p:cNvPr id="5" name="Rectangle 4"/>
          <p:cNvSpPr/>
          <p:nvPr/>
        </p:nvSpPr>
        <p:spPr>
          <a:xfrm>
            <a:off x="731520" y="1874520"/>
            <a:ext cx="10698480" cy="1042416"/>
          </a:xfrm>
          <a:prstGeom prst="rect">
            <a:avLst/>
          </a:prstGeom>
          <a:solidFill>
            <a:srgbClr val="1A1A2E"/>
          </a:solidFill>
          <a:ln w="25400">
            <a:solidFill>
              <a:srgbClr val="AB47BC"/>
            </a:solid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spcBef>
                <a:spcPts val="800"/>
              </a:spcBef>
              <a:defRPr sz="1400">
                <a:solidFill>
                  <a:srgbClr val="E1BEE7"/>
                </a:solidFill>
                <a:latin typeface="Calibri"/>
              </a:defRPr>
            </a:pPr>
            <a:r>
              <a:t>A man approaches the information desk. Visibly upset. His mother, 82, admitted three days ago for pneumonia. Unable to reach anyone by phone. Portal down. Drove 90 minutes.</a:t>
            </a:r>
            <a:br/>
            <a:br/>
            <a:r>
              <a:t>"I can't access my mother's records. I don't know what medications she's on. The nurse told me they're using PAPER. Paper! What year is this? I want to know if my mother's personal information has been stolen. I want to speak to whoever is in charge. And if I don't get answers, I'm calling my lawyer and the press."</a:t>
            </a:r>
          </a:p>
        </p:txBody>
      </p:sp>
      <p:sp>
        <p:nvSpPr>
          <p:cNvPr id="6" name="Rectangle 5"/>
          <p:cNvSpPr/>
          <p:nvPr/>
        </p:nvSpPr>
        <p:spPr>
          <a:xfrm>
            <a:off x="1371600" y="3099816"/>
            <a:ext cx="9418320" cy="548640"/>
          </a:xfrm>
          <a:prstGeom prst="rect">
            <a:avLst/>
          </a:prstGeom>
          <a:solidFill>
            <a:srgbClr val="0D2A50"/>
          </a:solidFill>
          <a:ln w="25400">
            <a:solidFill>
              <a:srgbClr val="42A5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600">
                <a:solidFill>
                  <a:srgbClr val="BBDEFB"/>
                </a:solidFill>
                <a:latin typeface="Calibri"/>
              </a:defRPr>
            </a:pPr>
            <a:r>
              <a:t>Who responds? What do you say? What can't you say?</a:t>
            </a:r>
          </a:p>
        </p:txBody>
      </p:sp>
      <p:sp>
        <p:nvSpPr>
          <p:cNvPr id="7" name="TextBox 6"/>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19 / 35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5E20"/>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FFFFFF"/>
                </a:solidFill>
                <a:latin typeface="Calibri"/>
              </a:defRPr>
            </a:pPr>
            <a:r>
              <a:t>PAUSE -- TEAM DISCUSSION</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C8E6C9"/>
                </a:solidFill>
                <a:latin typeface="Calibri"/>
              </a:defRPr>
            </a:pPr>
            <a:r>
              <a:t>This man represents hundreds of families with the same fears.</a:t>
            </a:r>
          </a:p>
        </p:txBody>
      </p:sp>
      <p:sp>
        <p:nvSpPr>
          <p:cNvPr id="4" name="TextBox 3"/>
          <p:cNvSpPr txBox="1"/>
          <p:nvPr/>
        </p:nvSpPr>
        <p:spPr>
          <a:xfrm>
            <a:off x="1371600" y="1828800"/>
            <a:ext cx="9418320" cy="502920"/>
          </a:xfrm>
          <a:prstGeom prst="rect">
            <a:avLst/>
          </a:prstGeom>
          <a:noFill/>
        </p:spPr>
        <p:txBody>
          <a:bodyPr wrap="square">
            <a:spAutoFit/>
          </a:bodyPr>
          <a:lstStyle/>
          <a:p>
            <a:pPr algn="l">
              <a:defRPr sz="1800" b="0">
                <a:solidFill>
                  <a:srgbClr val="FFFFFF"/>
                </a:solidFill>
                <a:latin typeface="Calibri"/>
              </a:defRPr>
            </a:pPr>
            <a:r>
              <a:t>Who meets with him? What can you share?</a:t>
            </a:r>
          </a:p>
        </p:txBody>
      </p:sp>
      <p:sp>
        <p:nvSpPr>
          <p:cNvPr id="5" name="TextBox 4"/>
          <p:cNvSpPr txBox="1"/>
          <p:nvPr/>
        </p:nvSpPr>
        <p:spPr>
          <a:xfrm>
            <a:off x="1371600" y="2423160"/>
            <a:ext cx="9418320" cy="502920"/>
          </a:xfrm>
          <a:prstGeom prst="rect">
            <a:avLst/>
          </a:prstGeom>
          <a:noFill/>
        </p:spPr>
        <p:txBody>
          <a:bodyPr wrap="square">
            <a:spAutoFit/>
          </a:bodyPr>
          <a:lstStyle/>
          <a:p>
            <a:pPr algn="l">
              <a:defRPr sz="1800" b="0">
                <a:solidFill>
                  <a:srgbClr val="FFFFFF"/>
                </a:solidFill>
                <a:latin typeface="Calibri"/>
              </a:defRPr>
            </a:pPr>
            <a:r>
              <a:t>He's threatening legal action and media. How do you de-escalate?</a:t>
            </a:r>
          </a:p>
        </p:txBody>
      </p:sp>
      <p:sp>
        <p:nvSpPr>
          <p:cNvPr id="6" name="TextBox 5"/>
          <p:cNvSpPr txBox="1"/>
          <p:nvPr/>
        </p:nvSpPr>
        <p:spPr>
          <a:xfrm>
            <a:off x="914400" y="5303520"/>
            <a:ext cx="10332720" cy="365760"/>
          </a:xfrm>
          <a:prstGeom prst="rect">
            <a:avLst/>
          </a:prstGeom>
          <a:noFill/>
        </p:spPr>
        <p:txBody>
          <a:bodyPr wrap="square">
            <a:spAutoFit/>
          </a:bodyPr>
          <a:lstStyle/>
          <a:p>
            <a:pPr algn="ctr">
              <a:defRPr sz="1300" b="0">
                <a:solidFill>
                  <a:srgbClr val="A5D6A7"/>
                </a:solidFill>
                <a:latin typeface="Calibri"/>
              </a:defRPr>
            </a:pPr>
            <a:r>
              <a:t>Discuss, then log your decision.</a:t>
            </a:r>
          </a:p>
        </p:txBody>
      </p:sp>
      <p:sp>
        <p:nvSpPr>
          <p:cNvPr id="7" name="TextBox 6"/>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20 / 35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E94560"/>
                </a:solidFill>
                <a:latin typeface="Calibri"/>
              </a:defRPr>
            </a:pPr>
            <a:r>
              <a:t>STAFF MORALE CRISIS</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A0A0C0"/>
                </a:solidFill>
                <a:latin typeface="Calibri"/>
              </a:defRPr>
            </a:pPr>
            <a:r>
              <a:t>Hour 32</a:t>
            </a:r>
          </a:p>
        </p:txBody>
      </p:sp>
      <p:sp>
        <p:nvSpPr>
          <p:cNvPr id="4" name="TextBox 3"/>
          <p:cNvSpPr txBox="1"/>
          <p:nvPr/>
        </p:nvSpPr>
        <p:spPr>
          <a:xfrm>
            <a:off x="731520" y="1554480"/>
            <a:ext cx="10698480" cy="274320"/>
          </a:xfrm>
          <a:prstGeom prst="rect">
            <a:avLst/>
          </a:prstGeom>
          <a:noFill/>
        </p:spPr>
        <p:txBody>
          <a:bodyPr wrap="square">
            <a:spAutoFit/>
          </a:bodyPr>
          <a:lstStyle/>
          <a:p>
            <a:pPr algn="l">
              <a:defRPr sz="1200" b="1">
                <a:solidFill>
                  <a:srgbClr val="FFA726"/>
                </a:solidFill>
                <a:latin typeface="Calibri"/>
              </a:defRPr>
            </a:pPr>
            <a:r>
              <a:t>Voicemail -- Marie-Claire, Charge Nurse, Unit 3B</a:t>
            </a:r>
          </a:p>
        </p:txBody>
      </p:sp>
      <p:sp>
        <p:nvSpPr>
          <p:cNvPr id="5" name="Rectangle 4"/>
          <p:cNvSpPr/>
          <p:nvPr/>
        </p:nvSpPr>
        <p:spPr>
          <a:xfrm>
            <a:off x="731520" y="1874520"/>
            <a:ext cx="10698480" cy="1874519"/>
          </a:xfrm>
          <a:prstGeom prst="rect">
            <a:avLst/>
          </a:prstGeom>
          <a:solidFill>
            <a:srgbClr val="1A1A2E"/>
          </a:solidFill>
          <a:ln w="25400">
            <a:solidFill>
              <a:srgbClr val="FFA726"/>
            </a:solid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spcBef>
                <a:spcPts val="800"/>
              </a:spcBef>
              <a:defRPr sz="1400">
                <a:solidFill>
                  <a:srgbClr val="FFE0B2"/>
                </a:solidFill>
                <a:latin typeface="Calibri"/>
              </a:defRPr>
            </a:pPr>
            <a:r>
              <a:t>"This is Marie-Claire on 3B. I need to tell you that my nurses are done. We've been working 14-hour shifts on paper for two days. Three of my nurses called in sick today -- I think they're not actually sick, they just can't take it anymore. The ones who are here are making mistakes. Small ones so far. But I'm scared. We had another near-miss -- wrong dose calculated by hand because we don't have the EHR doing the math for us. I need more staff, I need someone to acknowledge what we're going through, and I need to know when this is going to end. Please call me back."</a:t>
            </a:r>
          </a:p>
        </p:txBody>
      </p:sp>
      <p:sp>
        <p:nvSpPr>
          <p:cNvPr id="6" name="Rectangle 5"/>
          <p:cNvSpPr/>
          <p:nvPr/>
        </p:nvSpPr>
        <p:spPr>
          <a:xfrm>
            <a:off x="1371600" y="3931919"/>
            <a:ext cx="9418320" cy="548640"/>
          </a:xfrm>
          <a:prstGeom prst="rect">
            <a:avLst/>
          </a:prstGeom>
          <a:solidFill>
            <a:srgbClr val="0D2A50"/>
          </a:solidFill>
          <a:ln w="25400">
            <a:solidFill>
              <a:srgbClr val="42A5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600">
                <a:solidFill>
                  <a:srgbClr val="BBDEFB"/>
                </a:solidFill>
                <a:latin typeface="Calibri"/>
              </a:defRPr>
            </a:pPr>
            <a:r>
              <a:t>Staff burnout is becoming a patient safety issue. What do you do?</a:t>
            </a:r>
          </a:p>
        </p:txBody>
      </p:sp>
      <p:sp>
        <p:nvSpPr>
          <p:cNvPr id="7" name="TextBox 6"/>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21 / 35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B5E20"/>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FFFFFF"/>
                </a:solidFill>
                <a:latin typeface="Calibri"/>
              </a:defRPr>
            </a:pPr>
            <a:r>
              <a:t>PAUSE -- TEAM DISCUSSION</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C8E6C9"/>
                </a:solidFill>
                <a:latin typeface="Calibri"/>
              </a:defRPr>
            </a:pPr>
            <a:r>
              <a:t>Marie-Claire is one of your best charge nurses. If she breaks, the unit breaks.</a:t>
            </a:r>
          </a:p>
        </p:txBody>
      </p:sp>
      <p:sp>
        <p:nvSpPr>
          <p:cNvPr id="4" name="TextBox 3"/>
          <p:cNvSpPr txBox="1"/>
          <p:nvPr/>
        </p:nvSpPr>
        <p:spPr>
          <a:xfrm>
            <a:off x="1371600" y="1828800"/>
            <a:ext cx="9418320" cy="502920"/>
          </a:xfrm>
          <a:prstGeom prst="rect">
            <a:avLst/>
          </a:prstGeom>
          <a:noFill/>
        </p:spPr>
        <p:txBody>
          <a:bodyPr wrap="square">
            <a:spAutoFit/>
          </a:bodyPr>
          <a:lstStyle/>
          <a:p>
            <a:pPr algn="l">
              <a:defRPr sz="1800" b="0">
                <a:solidFill>
                  <a:srgbClr val="FFFFFF"/>
                </a:solidFill>
                <a:latin typeface="Calibri"/>
              </a:defRPr>
            </a:pPr>
            <a:r>
              <a:t>Mutual aid? Reduce census? Crisis counseling? Shorter shifts?</a:t>
            </a:r>
          </a:p>
        </p:txBody>
      </p:sp>
      <p:sp>
        <p:nvSpPr>
          <p:cNvPr id="5" name="TextBox 4"/>
          <p:cNvSpPr txBox="1"/>
          <p:nvPr/>
        </p:nvSpPr>
        <p:spPr>
          <a:xfrm>
            <a:off x="1371600" y="2423160"/>
            <a:ext cx="9418320" cy="502920"/>
          </a:xfrm>
          <a:prstGeom prst="rect">
            <a:avLst/>
          </a:prstGeom>
          <a:noFill/>
        </p:spPr>
        <p:txBody>
          <a:bodyPr wrap="square">
            <a:spAutoFit/>
          </a:bodyPr>
          <a:lstStyle/>
          <a:p>
            <a:pPr algn="l">
              <a:defRPr sz="1800" b="0">
                <a:solidFill>
                  <a:srgbClr val="FFFFFF"/>
                </a:solidFill>
                <a:latin typeface="Calibri"/>
              </a:defRPr>
            </a:pPr>
            <a:r>
              <a:t>What does each cost you?</a:t>
            </a:r>
          </a:p>
        </p:txBody>
      </p:sp>
      <p:sp>
        <p:nvSpPr>
          <p:cNvPr id="6" name="TextBox 5"/>
          <p:cNvSpPr txBox="1"/>
          <p:nvPr/>
        </p:nvSpPr>
        <p:spPr>
          <a:xfrm>
            <a:off x="914400" y="5303520"/>
            <a:ext cx="10332720" cy="365760"/>
          </a:xfrm>
          <a:prstGeom prst="rect">
            <a:avLst/>
          </a:prstGeom>
          <a:noFill/>
        </p:spPr>
        <p:txBody>
          <a:bodyPr wrap="square">
            <a:spAutoFit/>
          </a:bodyPr>
          <a:lstStyle/>
          <a:p>
            <a:pPr algn="ctr">
              <a:defRPr sz="1300" b="0">
                <a:solidFill>
                  <a:srgbClr val="A5D6A7"/>
                </a:solidFill>
                <a:latin typeface="Calibri"/>
              </a:defRPr>
            </a:pPr>
            <a:r>
              <a:t>Discuss, then log your decision.</a:t>
            </a:r>
          </a:p>
        </p:txBody>
      </p:sp>
      <p:sp>
        <p:nvSpPr>
          <p:cNvPr id="7" name="TextBox 6"/>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22 / 35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E94560"/>
                </a:solidFill>
                <a:latin typeface="Calibri"/>
              </a:defRPr>
            </a:pPr>
            <a:r>
              <a:t>SOCIAL MEDIA FIRESTORM</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A0A0C0"/>
                </a:solidFill>
                <a:latin typeface="Calibri"/>
              </a:defRPr>
            </a:pPr>
            <a:r>
              <a:t>Hour 34</a:t>
            </a:r>
          </a:p>
        </p:txBody>
      </p:sp>
      <p:sp>
        <p:nvSpPr>
          <p:cNvPr id="4" name="Rectangle 3"/>
          <p:cNvSpPr/>
          <p:nvPr/>
        </p:nvSpPr>
        <p:spPr>
          <a:xfrm>
            <a:off x="731520" y="1554480"/>
            <a:ext cx="10698480" cy="1188720"/>
          </a:xfrm>
          <a:prstGeom prst="rect">
            <a:avLst/>
          </a:prstGeom>
          <a:solidFill>
            <a:srgbClr val="1A1A2E"/>
          </a:solidFill>
          <a:ln w="25400">
            <a:solidFill>
              <a:srgbClr val="42A5F5"/>
            </a:solid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spcBef>
                <a:spcPts val="600"/>
              </a:spcBef>
              <a:defRPr sz="1200" b="1">
                <a:solidFill>
                  <a:srgbClr val="42A5F5"/>
                </a:solidFill>
                <a:latin typeface="Calibri"/>
              </a:defRPr>
            </a:pPr>
            <a:r>
              <a:t>@HealthWatchFR (12,400 followers)</a:t>
            </a:r>
          </a:p>
          <a:p>
            <a:pPr>
              <a:defRPr sz="1300">
                <a:solidFill>
                  <a:srgbClr val="BBDEFB"/>
                </a:solidFill>
                <a:latin typeface="Calibri"/>
              </a:defRPr>
            </a:pPr>
            <a:r>
              <a:t>"THREAD: My aunt is a nurse at Sainte-Claire. She says they've been writing EVERYTHING by hand for 2 days. No access to patient histories. No medication barcodes. She's terrified of making an error. This is a patient safety EMERGENCY."</a:t>
            </a:r>
          </a:p>
        </p:txBody>
      </p:sp>
      <p:sp>
        <p:nvSpPr>
          <p:cNvPr id="5" name="Rectangle 4"/>
          <p:cNvSpPr/>
          <p:nvPr/>
        </p:nvSpPr>
        <p:spPr>
          <a:xfrm>
            <a:off x="731520" y="2816352"/>
            <a:ext cx="10698480" cy="960120"/>
          </a:xfrm>
          <a:prstGeom prst="rect">
            <a:avLst/>
          </a:prstGeom>
          <a:solidFill>
            <a:srgbClr val="1A1A2E"/>
          </a:solidFill>
          <a:ln w="25400">
            <a:solidFill>
              <a:srgbClr val="42A5F5"/>
            </a:solid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spcBef>
                <a:spcPts val="600"/>
              </a:spcBef>
              <a:defRPr sz="1200" b="1">
                <a:solidFill>
                  <a:srgbClr val="42A5F5"/>
                </a:solidFill>
                <a:latin typeface="Calibri"/>
              </a:defRPr>
            </a:pPr>
            <a:r>
              <a:t>@PatientRightsFR (34,200 followers)</a:t>
            </a:r>
          </a:p>
          <a:p>
            <a:pPr>
              <a:defRPr sz="1300">
                <a:solidFill>
                  <a:srgbClr val="BBDEFB"/>
                </a:solidFill>
                <a:latin typeface="Calibri"/>
              </a:defRPr>
            </a:pPr>
            <a:r>
              <a:t>"If Sainte-Claire has had 180,000 patient records stolen, where is the CNIL notification? GDPR requires transparency. Silence is not acceptable. #DataBreach #GDPR"</a:t>
            </a:r>
          </a:p>
        </p:txBody>
      </p:sp>
      <p:sp>
        <p:nvSpPr>
          <p:cNvPr id="6" name="Rectangle 5"/>
          <p:cNvSpPr/>
          <p:nvPr/>
        </p:nvSpPr>
        <p:spPr>
          <a:xfrm>
            <a:off x="731520" y="3849624"/>
            <a:ext cx="10698480" cy="960120"/>
          </a:xfrm>
          <a:prstGeom prst="rect">
            <a:avLst/>
          </a:prstGeom>
          <a:solidFill>
            <a:srgbClr val="1A1A2E"/>
          </a:solidFill>
          <a:ln w="25400">
            <a:solidFill>
              <a:srgbClr val="42A5F5"/>
            </a:solid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spcBef>
                <a:spcPts val="600"/>
              </a:spcBef>
              <a:defRPr sz="1200" b="1">
                <a:solidFill>
                  <a:srgbClr val="42A5F5"/>
                </a:solidFill>
                <a:latin typeface="Calibri"/>
              </a:defRPr>
            </a:pPr>
            <a:r>
              <a:t>Dr. Laurent M. (verified physician)</a:t>
            </a:r>
          </a:p>
          <a:p>
            <a:pPr>
              <a:defRPr sz="1300">
                <a:solidFill>
                  <a:srgbClr val="BBDEFB"/>
                </a:solidFill>
                <a:latin typeface="Calibri"/>
              </a:defRPr>
            </a:pPr>
            <a:r>
              <a:t>"The Sainte-Claire situation is exactly what we've warned about. French hospitals are chronically under-invested in cybersecurity. This will happen again."</a:t>
            </a:r>
          </a:p>
        </p:txBody>
      </p:sp>
      <p:sp>
        <p:nvSpPr>
          <p:cNvPr id="7" name="Rectangle 6"/>
          <p:cNvSpPr/>
          <p:nvPr/>
        </p:nvSpPr>
        <p:spPr>
          <a:xfrm>
            <a:off x="1371600" y="4928616"/>
            <a:ext cx="9418320" cy="548640"/>
          </a:xfrm>
          <a:prstGeom prst="rect">
            <a:avLst/>
          </a:prstGeom>
          <a:solidFill>
            <a:srgbClr val="0D2A50"/>
          </a:solidFill>
          <a:ln w="25400">
            <a:solidFill>
              <a:srgbClr val="42A5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600">
                <a:solidFill>
                  <a:srgbClr val="BBDEFB"/>
                </a:solidFill>
                <a:latin typeface="Calibri"/>
              </a:defRPr>
            </a:pPr>
            <a:r>
              <a:t>Social media is shaping the narrative. Do you engage or stay silent?</a:t>
            </a:r>
          </a:p>
        </p:txBody>
      </p:sp>
      <p:sp>
        <p:nvSpPr>
          <p:cNvPr id="8" name="TextBox 7"/>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23 / 35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B5E20"/>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FFFFFF"/>
                </a:solidFill>
                <a:latin typeface="Calibri"/>
              </a:defRPr>
            </a:pPr>
            <a:r>
              <a:t>PAUSE -- TEAM DISCUSSION</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C8E6C9"/>
                </a:solidFill>
                <a:latin typeface="Calibri"/>
              </a:defRPr>
            </a:pPr>
            <a:r>
              <a:t>A nurse's relative posted. Advocacy groups demanding answers.</a:t>
            </a:r>
          </a:p>
        </p:txBody>
      </p:sp>
      <p:sp>
        <p:nvSpPr>
          <p:cNvPr id="4" name="TextBox 3"/>
          <p:cNvSpPr txBox="1"/>
          <p:nvPr/>
        </p:nvSpPr>
        <p:spPr>
          <a:xfrm>
            <a:off x="1371600" y="1828800"/>
            <a:ext cx="9418320" cy="502920"/>
          </a:xfrm>
          <a:prstGeom prst="rect">
            <a:avLst/>
          </a:prstGeom>
          <a:noFill/>
        </p:spPr>
        <p:txBody>
          <a:bodyPr wrap="square">
            <a:spAutoFit/>
          </a:bodyPr>
          <a:lstStyle/>
          <a:p>
            <a:pPr algn="l">
              <a:defRPr sz="1800" b="0">
                <a:solidFill>
                  <a:srgbClr val="FFFFFF"/>
                </a:solidFill>
                <a:latin typeface="Calibri"/>
              </a:defRPr>
            </a:pPr>
            <a:r>
              <a:t>Official social media response? Ignore it?</a:t>
            </a:r>
          </a:p>
        </p:txBody>
      </p:sp>
      <p:sp>
        <p:nvSpPr>
          <p:cNvPr id="5" name="TextBox 4"/>
          <p:cNvSpPr txBox="1"/>
          <p:nvPr/>
        </p:nvSpPr>
        <p:spPr>
          <a:xfrm>
            <a:off x="1371600" y="2423160"/>
            <a:ext cx="9418320" cy="502920"/>
          </a:xfrm>
          <a:prstGeom prst="rect">
            <a:avLst/>
          </a:prstGeom>
          <a:noFill/>
        </p:spPr>
        <p:txBody>
          <a:bodyPr wrap="square">
            <a:spAutoFit/>
          </a:bodyPr>
          <a:lstStyle/>
          <a:p>
            <a:pPr algn="l">
              <a:defRPr sz="1800" b="0">
                <a:solidFill>
                  <a:srgbClr val="FFFFFF"/>
                </a:solidFill>
                <a:latin typeface="Calibri"/>
              </a:defRPr>
            </a:pPr>
            <a:r>
              <a:t>Ask the employee to remove it? Hire a crisis firm?</a:t>
            </a:r>
          </a:p>
        </p:txBody>
      </p:sp>
      <p:sp>
        <p:nvSpPr>
          <p:cNvPr id="6" name="TextBox 5"/>
          <p:cNvSpPr txBox="1"/>
          <p:nvPr/>
        </p:nvSpPr>
        <p:spPr>
          <a:xfrm>
            <a:off x="914400" y="5303520"/>
            <a:ext cx="10332720" cy="365760"/>
          </a:xfrm>
          <a:prstGeom prst="rect">
            <a:avLst/>
          </a:prstGeom>
          <a:noFill/>
        </p:spPr>
        <p:txBody>
          <a:bodyPr wrap="square">
            <a:spAutoFit/>
          </a:bodyPr>
          <a:lstStyle/>
          <a:p>
            <a:pPr algn="ctr">
              <a:defRPr sz="1300" b="0">
                <a:solidFill>
                  <a:srgbClr val="A5D6A7"/>
                </a:solidFill>
                <a:latin typeface="Calibri"/>
              </a:defRPr>
            </a:pPr>
            <a:r>
              <a:t>Discuss, then log your decision.</a:t>
            </a:r>
          </a:p>
        </p:txBody>
      </p:sp>
      <p:sp>
        <p:nvSpPr>
          <p:cNvPr id="7" name="TextBox 6"/>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24 / 35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E94560"/>
                </a:solidFill>
                <a:latin typeface="Calibri"/>
              </a:defRPr>
            </a:pPr>
            <a:r>
              <a:t>INTER-DEPARTMENT CONFLICT</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A0A0C0"/>
                </a:solidFill>
                <a:latin typeface="Calibri"/>
              </a:defRPr>
            </a:pPr>
            <a:r>
              <a:t>Hour 36</a:t>
            </a:r>
          </a:p>
        </p:txBody>
      </p:sp>
      <p:sp>
        <p:nvSpPr>
          <p:cNvPr id="4" name="TextBox 3"/>
          <p:cNvSpPr txBox="1"/>
          <p:nvPr/>
        </p:nvSpPr>
        <p:spPr>
          <a:xfrm>
            <a:off x="731520" y="1554480"/>
            <a:ext cx="10698480" cy="274320"/>
          </a:xfrm>
          <a:prstGeom prst="rect">
            <a:avLst/>
          </a:prstGeom>
          <a:noFill/>
        </p:spPr>
        <p:txBody>
          <a:bodyPr wrap="square">
            <a:spAutoFit/>
          </a:bodyPr>
          <a:lstStyle/>
          <a:p>
            <a:pPr algn="l">
              <a:defRPr sz="1200" b="1">
                <a:solidFill>
                  <a:srgbClr val="AB47BC"/>
                </a:solidFill>
                <a:latin typeface="Calibri"/>
              </a:defRPr>
            </a:pPr>
            <a:r>
              <a:t>Scene: Incident Command Center</a:t>
            </a:r>
          </a:p>
        </p:txBody>
      </p:sp>
      <p:sp>
        <p:nvSpPr>
          <p:cNvPr id="5" name="Rectangle 4"/>
          <p:cNvSpPr/>
          <p:nvPr/>
        </p:nvSpPr>
        <p:spPr>
          <a:xfrm>
            <a:off x="731520" y="1874520"/>
            <a:ext cx="10698480" cy="1554480"/>
          </a:xfrm>
          <a:prstGeom prst="rect">
            <a:avLst/>
          </a:prstGeom>
          <a:solidFill>
            <a:srgbClr val="1A1A2E"/>
          </a:solidFill>
          <a:ln w="25400">
            <a:solidFill>
              <a:srgbClr val="AB47BC"/>
            </a:solid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spcBef>
                <a:spcPts val="800"/>
              </a:spcBef>
              <a:defRPr sz="1400">
                <a:solidFill>
                  <a:srgbClr val="E1BEE7"/>
                </a:solidFill>
                <a:latin typeface="Calibri"/>
              </a:defRPr>
            </a:pPr>
            <a:r>
              <a:t>The Chief of Surgery and the HIM Director are in a heated argument.</a:t>
            </a:r>
            <a:br/>
            <a:br/>
            <a:r>
              <a:t>Chief of Surgery: "We operated for decades before computers. I am not letting a computer problem endanger my patients by delaying their care."</a:t>
            </a:r>
            <a:br/>
            <a:br/>
            <a:r>
              <a:t>HIM Director: "And we had higher error rates for decades before computers. We are not going backward. Every mislabeled specimen is a potential catastrophe."</a:t>
            </a:r>
          </a:p>
        </p:txBody>
      </p:sp>
      <p:sp>
        <p:nvSpPr>
          <p:cNvPr id="6" name="Rectangle 5"/>
          <p:cNvSpPr/>
          <p:nvPr/>
        </p:nvSpPr>
        <p:spPr>
          <a:xfrm>
            <a:off x="1371600" y="3611880"/>
            <a:ext cx="9418320" cy="548640"/>
          </a:xfrm>
          <a:prstGeom prst="rect">
            <a:avLst/>
          </a:prstGeom>
          <a:solidFill>
            <a:srgbClr val="0D2A50"/>
          </a:solidFill>
          <a:ln w="25400">
            <a:solidFill>
              <a:srgbClr val="42A5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600">
                <a:solidFill>
                  <a:srgbClr val="BBDEFB"/>
                </a:solidFill>
                <a:latin typeface="Calibri"/>
              </a:defRPr>
            </a:pPr>
            <a:r>
              <a:t>Both are right. Both are wrong. The Incident Commander must decide.</a:t>
            </a:r>
          </a:p>
        </p:txBody>
      </p:sp>
      <p:sp>
        <p:nvSpPr>
          <p:cNvPr id="7" name="TextBox 6"/>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25 / 35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B5E20"/>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FFFFFF"/>
                </a:solidFill>
                <a:latin typeface="Calibri"/>
              </a:defRPr>
            </a:pPr>
            <a:r>
              <a:t>PAUSE -- TEAM DISCUSSION</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C8E6C9"/>
                </a:solidFill>
                <a:latin typeface="Calibri"/>
              </a:defRPr>
            </a:pPr>
            <a:r>
              <a:t>Surgery vs. HIM. Patient harm from delay vs. patient harm from error.</a:t>
            </a:r>
          </a:p>
        </p:txBody>
      </p:sp>
      <p:sp>
        <p:nvSpPr>
          <p:cNvPr id="4" name="TextBox 3"/>
          <p:cNvSpPr txBox="1"/>
          <p:nvPr/>
        </p:nvSpPr>
        <p:spPr>
          <a:xfrm>
            <a:off x="1371600" y="1828800"/>
            <a:ext cx="9418320" cy="502920"/>
          </a:xfrm>
          <a:prstGeom prst="rect">
            <a:avLst/>
          </a:prstGeom>
          <a:noFill/>
        </p:spPr>
        <p:txBody>
          <a:bodyPr wrap="square">
            <a:spAutoFit/>
          </a:bodyPr>
          <a:lstStyle/>
          <a:p>
            <a:pPr algn="l">
              <a:defRPr sz="1800" b="0">
                <a:solidFill>
                  <a:srgbClr val="FFFFFF"/>
                </a:solidFill>
                <a:latin typeface="Calibri"/>
              </a:defRPr>
            </a:pPr>
            <a:r>
              <a:t>Resume elective surgery on paper? Delay? Compromise? Governance meeting?</a:t>
            </a:r>
          </a:p>
        </p:txBody>
      </p:sp>
      <p:sp>
        <p:nvSpPr>
          <p:cNvPr id="5" name="TextBox 4"/>
          <p:cNvSpPr txBox="1"/>
          <p:nvPr/>
        </p:nvSpPr>
        <p:spPr>
          <a:xfrm>
            <a:off x="914400" y="5303520"/>
            <a:ext cx="10332720" cy="365760"/>
          </a:xfrm>
          <a:prstGeom prst="rect">
            <a:avLst/>
          </a:prstGeom>
          <a:noFill/>
        </p:spPr>
        <p:txBody>
          <a:bodyPr wrap="square">
            <a:spAutoFit/>
          </a:bodyPr>
          <a:lstStyle/>
          <a:p>
            <a:pPr algn="ctr">
              <a:defRPr sz="1300" b="0">
                <a:solidFill>
                  <a:srgbClr val="A5D6A7"/>
                </a:solidFill>
                <a:latin typeface="Calibri"/>
              </a:defRPr>
            </a:pPr>
            <a:r>
              <a:t>Discuss, then log your decision.</a:t>
            </a:r>
          </a:p>
        </p:txBody>
      </p:sp>
      <p:sp>
        <p:nvSpPr>
          <p:cNvPr id="6" name="TextBox 5"/>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26 / 35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E94560"/>
                </a:solidFill>
                <a:latin typeface="Calibri"/>
              </a:defRPr>
            </a:pPr>
            <a:r>
              <a:t>CRITICAL DECISIONS</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A0A0C0"/>
                </a:solidFill>
                <a:latin typeface="Calibri"/>
              </a:defRPr>
            </a:pPr>
            <a:r>
              <a:t>Wednesday -- Hour 48 to 72  |  Day 3</a:t>
            </a:r>
          </a:p>
        </p:txBody>
      </p:sp>
      <p:sp>
        <p:nvSpPr>
          <p:cNvPr id="4" name="Rectangle 3"/>
          <p:cNvSpPr/>
          <p:nvPr/>
        </p:nvSpPr>
        <p:spPr>
          <a:xfrm>
            <a:off x="457200" y="1554480"/>
            <a:ext cx="11247120" cy="640080"/>
          </a:xfrm>
          <a:prstGeom prst="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2200" b="1">
                <a:solidFill>
                  <a:srgbClr val="FFFFFF"/>
                </a:solidFill>
                <a:latin typeface="Calibri"/>
              </a:defRPr>
            </a:pPr>
            <a:r>
              <a:t>RANSOM DEADLINE APPROACHING -- GDPR CLOCK TICKING</a:t>
            </a:r>
          </a:p>
        </p:txBody>
      </p:sp>
      <p:sp>
        <p:nvSpPr>
          <p:cNvPr id="5" name="Rectangle 4"/>
          <p:cNvSpPr/>
          <p:nvPr/>
        </p:nvSpPr>
        <p:spPr>
          <a:xfrm>
            <a:off x="457200" y="2331720"/>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EHR (DPI)  [DOWN]</a:t>
            </a:r>
          </a:p>
        </p:txBody>
      </p:sp>
      <p:sp>
        <p:nvSpPr>
          <p:cNvPr id="6" name="Rectangle 5"/>
          <p:cNvSpPr/>
          <p:nvPr/>
        </p:nvSpPr>
        <p:spPr>
          <a:xfrm>
            <a:off x="2743200" y="2331720"/>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Lab (LIS)  [DOWN]</a:t>
            </a:r>
          </a:p>
        </p:txBody>
      </p:sp>
      <p:sp>
        <p:nvSpPr>
          <p:cNvPr id="7" name="Rectangle 6"/>
          <p:cNvSpPr/>
          <p:nvPr/>
        </p:nvSpPr>
        <p:spPr>
          <a:xfrm>
            <a:off x="5029200" y="2331720"/>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PACS  [DOWN]</a:t>
            </a:r>
          </a:p>
        </p:txBody>
      </p:sp>
      <p:sp>
        <p:nvSpPr>
          <p:cNvPr id="8" name="Rectangle 7"/>
          <p:cNvSpPr/>
          <p:nvPr/>
        </p:nvSpPr>
        <p:spPr>
          <a:xfrm>
            <a:off x="7315200" y="2331720"/>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Pharmacy  [DOWN]</a:t>
            </a:r>
          </a:p>
        </p:txBody>
      </p:sp>
      <p:sp>
        <p:nvSpPr>
          <p:cNvPr id="9" name="Rectangle 8"/>
          <p:cNvSpPr/>
          <p:nvPr/>
        </p:nvSpPr>
        <p:spPr>
          <a:xfrm>
            <a:off x="9601200" y="2331720"/>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Patient Portal  [DOWN]</a:t>
            </a:r>
          </a:p>
        </p:txBody>
      </p:sp>
      <p:sp>
        <p:nvSpPr>
          <p:cNvPr id="10" name="Rectangle 9"/>
          <p:cNvSpPr/>
          <p:nvPr/>
        </p:nvSpPr>
        <p:spPr>
          <a:xfrm>
            <a:off x="457200" y="2862072"/>
            <a:ext cx="2194560" cy="45720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Email  [DEGRADED]</a:t>
            </a:r>
          </a:p>
        </p:txBody>
      </p:sp>
      <p:sp>
        <p:nvSpPr>
          <p:cNvPr id="11" name="Rectangle 10"/>
          <p:cNvSpPr/>
          <p:nvPr/>
        </p:nvSpPr>
        <p:spPr>
          <a:xfrm>
            <a:off x="2743200" y="2862072"/>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Scheduling  [DOWN]</a:t>
            </a:r>
          </a:p>
        </p:txBody>
      </p:sp>
      <p:sp>
        <p:nvSpPr>
          <p:cNvPr id="12" name="Rectangle 11"/>
          <p:cNvSpPr/>
          <p:nvPr/>
        </p:nvSpPr>
        <p:spPr>
          <a:xfrm>
            <a:off x="5029200" y="2862072"/>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Billing  [DOWN]</a:t>
            </a:r>
          </a:p>
        </p:txBody>
      </p:sp>
      <p:sp>
        <p:nvSpPr>
          <p:cNvPr id="13" name="Rectangle 12"/>
          <p:cNvSpPr/>
          <p:nvPr/>
        </p:nvSpPr>
        <p:spPr>
          <a:xfrm>
            <a:off x="7315200" y="2862072"/>
            <a:ext cx="2194560" cy="4572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Nurse Call</a:t>
            </a:r>
          </a:p>
        </p:txBody>
      </p:sp>
      <p:sp>
        <p:nvSpPr>
          <p:cNvPr id="14" name="Rectangle 13"/>
          <p:cNvSpPr/>
          <p:nvPr/>
        </p:nvSpPr>
        <p:spPr>
          <a:xfrm>
            <a:off x="9601200" y="2862072"/>
            <a:ext cx="2194560" cy="4572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Badge Access</a:t>
            </a:r>
          </a:p>
        </p:txBody>
      </p:sp>
      <p:sp>
        <p:nvSpPr>
          <p:cNvPr id="15" name="Rectangle 14"/>
          <p:cNvSpPr/>
          <p:nvPr/>
        </p:nvSpPr>
        <p:spPr>
          <a:xfrm>
            <a:off x="457200" y="3575304"/>
            <a:ext cx="2157984" cy="914400"/>
          </a:xfrm>
          <a:prstGeom prst="rect">
            <a:avLst/>
          </a:prstGeom>
          <a:solidFill>
            <a:srgbClr val="1A1A2E"/>
          </a:solidFill>
          <a:ln w="1270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defRPr sz="2800" b="1">
                <a:solidFill>
                  <a:srgbClr val="E94560"/>
                </a:solidFill>
                <a:latin typeface="Courier New"/>
              </a:defRPr>
            </a:pPr>
            <a:r>
              <a:t>48h</a:t>
            </a:r>
          </a:p>
          <a:p>
            <a:pPr algn="ctr">
              <a:defRPr sz="1100">
                <a:solidFill>
                  <a:srgbClr val="A0A0C0"/>
                </a:solidFill>
                <a:latin typeface="Calibri"/>
              </a:defRPr>
            </a:pPr>
            <a:r>
              <a:t>Downtime</a:t>
            </a:r>
          </a:p>
        </p:txBody>
      </p:sp>
      <p:sp>
        <p:nvSpPr>
          <p:cNvPr id="16" name="Rectangle 15"/>
          <p:cNvSpPr/>
          <p:nvPr/>
        </p:nvSpPr>
        <p:spPr>
          <a:xfrm>
            <a:off x="2706624" y="3575304"/>
            <a:ext cx="2157984" cy="914400"/>
          </a:xfrm>
          <a:prstGeom prst="rect">
            <a:avLst/>
          </a:prstGeom>
          <a:solidFill>
            <a:srgbClr val="1A1A2E"/>
          </a:solidFill>
          <a:ln w="1270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defRPr sz="2800" b="1">
                <a:solidFill>
                  <a:srgbClr val="E94560"/>
                </a:solidFill>
                <a:latin typeface="Courier New"/>
              </a:defRPr>
            </a:pPr>
            <a:r>
              <a:t>6,400</a:t>
            </a:r>
          </a:p>
          <a:p>
            <a:pPr algn="ctr">
              <a:defRPr sz="1100">
                <a:solidFill>
                  <a:srgbClr val="A0A0C0"/>
                </a:solidFill>
                <a:latin typeface="Calibri"/>
              </a:defRPr>
            </a:pPr>
            <a:r>
              <a:t>Paper Records</a:t>
            </a:r>
          </a:p>
        </p:txBody>
      </p:sp>
      <p:sp>
        <p:nvSpPr>
          <p:cNvPr id="17" name="Rectangle 16"/>
          <p:cNvSpPr/>
          <p:nvPr/>
        </p:nvSpPr>
        <p:spPr>
          <a:xfrm>
            <a:off x="4956048" y="3575304"/>
            <a:ext cx="2157984" cy="914400"/>
          </a:xfrm>
          <a:prstGeom prst="rect">
            <a:avLst/>
          </a:prstGeom>
          <a:solidFill>
            <a:srgbClr val="1A1A2E"/>
          </a:solidFill>
          <a:ln w="1270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defRPr sz="2800" b="1">
                <a:solidFill>
                  <a:srgbClr val="E94560"/>
                </a:solidFill>
                <a:latin typeface="Courier New"/>
              </a:defRPr>
            </a:pPr>
            <a:r>
              <a:t>38</a:t>
            </a:r>
          </a:p>
          <a:p>
            <a:pPr algn="ctr">
              <a:defRPr sz="1100">
                <a:solidFill>
                  <a:srgbClr val="A0A0C0"/>
                </a:solidFill>
                <a:latin typeface="Calibri"/>
              </a:defRPr>
            </a:pPr>
            <a:r>
              <a:t>Surgeries Canceled</a:t>
            </a:r>
          </a:p>
        </p:txBody>
      </p:sp>
      <p:sp>
        <p:nvSpPr>
          <p:cNvPr id="18" name="Rectangle 17"/>
          <p:cNvSpPr/>
          <p:nvPr/>
        </p:nvSpPr>
        <p:spPr>
          <a:xfrm>
            <a:off x="7205472" y="3575304"/>
            <a:ext cx="2157984" cy="914400"/>
          </a:xfrm>
          <a:prstGeom prst="rect">
            <a:avLst/>
          </a:prstGeom>
          <a:solidFill>
            <a:srgbClr val="1A1A2E"/>
          </a:solidFill>
          <a:ln w="1270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defRPr sz="2800" b="1">
                <a:solidFill>
                  <a:srgbClr val="E94560"/>
                </a:solidFill>
                <a:latin typeface="Courier New"/>
              </a:defRPr>
            </a:pPr>
            <a:r>
              <a:t>€480K</a:t>
            </a:r>
          </a:p>
          <a:p>
            <a:pPr algn="ctr">
              <a:defRPr sz="1100">
                <a:solidFill>
                  <a:srgbClr val="A0A0C0"/>
                </a:solidFill>
                <a:latin typeface="Calibri"/>
              </a:defRPr>
            </a:pPr>
            <a:r>
              <a:t>Revenue Lost</a:t>
            </a:r>
          </a:p>
        </p:txBody>
      </p:sp>
      <p:sp>
        <p:nvSpPr>
          <p:cNvPr id="19" name="Rectangle 18"/>
          <p:cNvSpPr/>
          <p:nvPr/>
        </p:nvSpPr>
        <p:spPr>
          <a:xfrm>
            <a:off x="9454896" y="3575304"/>
            <a:ext cx="2157984" cy="914400"/>
          </a:xfrm>
          <a:prstGeom prst="rect">
            <a:avLst/>
          </a:prstGeom>
          <a:solidFill>
            <a:srgbClr val="1A1A2E"/>
          </a:solidFill>
          <a:ln w="1270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defRPr sz="2800" b="1">
                <a:solidFill>
                  <a:srgbClr val="E94560"/>
                </a:solidFill>
                <a:latin typeface="Courier New"/>
              </a:defRPr>
            </a:pPr>
            <a:r>
              <a:t>89</a:t>
            </a:r>
          </a:p>
          <a:p>
            <a:pPr algn="ctr">
              <a:defRPr sz="1100">
                <a:solidFill>
                  <a:srgbClr val="A0A0C0"/>
                </a:solidFill>
                <a:latin typeface="Calibri"/>
              </a:defRPr>
            </a:pPr>
            <a:r>
              <a:t>Complaints</a:t>
            </a:r>
          </a:p>
        </p:txBody>
      </p:sp>
      <p:sp>
        <p:nvSpPr>
          <p:cNvPr id="20" name="TextBox 19"/>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27 / 35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E94560"/>
                </a:solidFill>
                <a:latin typeface="Calibri"/>
              </a:defRPr>
            </a:pPr>
            <a:r>
              <a:t>THE RANSOM DEMAND</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A0A0C0"/>
                </a:solidFill>
                <a:latin typeface="Calibri"/>
              </a:defRPr>
            </a:pPr>
            <a:r>
              <a:t>Hour 50</a:t>
            </a:r>
          </a:p>
        </p:txBody>
      </p:sp>
      <p:sp>
        <p:nvSpPr>
          <p:cNvPr id="4" name="Rectangle 3"/>
          <p:cNvSpPr/>
          <p:nvPr/>
        </p:nvSpPr>
        <p:spPr>
          <a:xfrm>
            <a:off x="457200" y="1554480"/>
            <a:ext cx="11247120" cy="39319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The attackers have made formal contact through an encrypted channel.</a:t>
            </a:r>
          </a:p>
        </p:txBody>
      </p:sp>
      <p:sp>
        <p:nvSpPr>
          <p:cNvPr id="5" name="Rectangle 4"/>
          <p:cNvSpPr/>
          <p:nvPr/>
        </p:nvSpPr>
        <p:spPr>
          <a:xfrm>
            <a:off x="457200" y="1554480"/>
            <a:ext cx="73152" cy="39319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002536"/>
            <a:ext cx="2720340" cy="914400"/>
          </a:xfrm>
          <a:prstGeom prst="rect">
            <a:avLst/>
          </a:prstGeom>
          <a:solidFill>
            <a:srgbClr val="1A1A2E"/>
          </a:solidFill>
          <a:ln w="1270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defRPr sz="2800" b="1">
                <a:solidFill>
                  <a:srgbClr val="E94560"/>
                </a:solidFill>
                <a:latin typeface="Courier New"/>
              </a:defRPr>
            </a:pPr>
            <a:r>
              <a:t>€2.5M</a:t>
            </a:r>
          </a:p>
          <a:p>
            <a:pPr algn="ctr">
              <a:defRPr sz="1100">
                <a:solidFill>
                  <a:srgbClr val="A0A0C0"/>
                </a:solidFill>
                <a:latin typeface="Calibri"/>
              </a:defRPr>
            </a:pPr>
            <a:r>
              <a:t>Ransom</a:t>
            </a:r>
          </a:p>
        </p:txBody>
      </p:sp>
      <p:sp>
        <p:nvSpPr>
          <p:cNvPr id="7" name="Rectangle 6"/>
          <p:cNvSpPr/>
          <p:nvPr/>
        </p:nvSpPr>
        <p:spPr>
          <a:xfrm>
            <a:off x="3268980" y="2002536"/>
            <a:ext cx="2720340" cy="914400"/>
          </a:xfrm>
          <a:prstGeom prst="rect">
            <a:avLst/>
          </a:prstGeom>
          <a:solidFill>
            <a:srgbClr val="1A1A2E"/>
          </a:solidFill>
          <a:ln w="1270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defRPr sz="2800" b="1">
                <a:solidFill>
                  <a:srgbClr val="E94560"/>
                </a:solidFill>
                <a:latin typeface="Courier New"/>
              </a:defRPr>
            </a:pPr>
            <a:r>
              <a:t>€1M</a:t>
            </a:r>
          </a:p>
          <a:p>
            <a:pPr algn="ctr">
              <a:defRPr sz="1100">
                <a:solidFill>
                  <a:srgbClr val="A0A0C0"/>
                </a:solidFill>
                <a:latin typeface="Calibri"/>
              </a:defRPr>
            </a:pPr>
            <a:r>
              <a:t>Insurance Limit</a:t>
            </a:r>
          </a:p>
        </p:txBody>
      </p:sp>
      <p:sp>
        <p:nvSpPr>
          <p:cNvPr id="8" name="Rectangle 7"/>
          <p:cNvSpPr/>
          <p:nvPr/>
        </p:nvSpPr>
        <p:spPr>
          <a:xfrm>
            <a:off x="6080760" y="2002536"/>
            <a:ext cx="2720340" cy="914400"/>
          </a:xfrm>
          <a:prstGeom prst="rect">
            <a:avLst/>
          </a:prstGeom>
          <a:solidFill>
            <a:srgbClr val="1A1A2E"/>
          </a:solidFill>
          <a:ln w="1270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defRPr sz="2800" b="1">
                <a:solidFill>
                  <a:srgbClr val="E94560"/>
                </a:solidFill>
                <a:latin typeface="Courier New"/>
              </a:defRPr>
            </a:pPr>
            <a:r>
              <a:t>180K</a:t>
            </a:r>
          </a:p>
          <a:p>
            <a:pPr algn="ctr">
              <a:defRPr sz="1100">
                <a:solidFill>
                  <a:srgbClr val="A0A0C0"/>
                </a:solidFill>
                <a:latin typeface="Calibri"/>
              </a:defRPr>
            </a:pPr>
            <a:r>
              <a:t>Records Stolen</a:t>
            </a:r>
          </a:p>
        </p:txBody>
      </p:sp>
      <p:sp>
        <p:nvSpPr>
          <p:cNvPr id="9" name="Rectangle 8"/>
          <p:cNvSpPr/>
          <p:nvPr/>
        </p:nvSpPr>
        <p:spPr>
          <a:xfrm>
            <a:off x="8892540" y="2002536"/>
            <a:ext cx="2720340" cy="914400"/>
          </a:xfrm>
          <a:prstGeom prst="rect">
            <a:avLst/>
          </a:prstGeom>
          <a:solidFill>
            <a:srgbClr val="1A1A2E"/>
          </a:solidFill>
          <a:ln w="1270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defRPr sz="2800" b="1">
                <a:solidFill>
                  <a:srgbClr val="E94560"/>
                </a:solidFill>
                <a:latin typeface="Courier New"/>
              </a:defRPr>
            </a:pPr>
            <a:r>
              <a:t>48h</a:t>
            </a:r>
          </a:p>
          <a:p>
            <a:pPr algn="ctr">
              <a:defRPr sz="1100">
                <a:solidFill>
                  <a:srgbClr val="A0A0C0"/>
                </a:solidFill>
                <a:latin typeface="Calibri"/>
              </a:defRPr>
            </a:pPr>
            <a:r>
              <a:t>Deadline</a:t>
            </a:r>
          </a:p>
        </p:txBody>
      </p:sp>
      <p:sp>
        <p:nvSpPr>
          <p:cNvPr id="10" name="Rectangle 9"/>
          <p:cNvSpPr/>
          <p:nvPr/>
        </p:nvSpPr>
        <p:spPr>
          <a:xfrm>
            <a:off x="457200" y="3054096"/>
            <a:ext cx="11247120" cy="649224"/>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500 genuine patient records provided as proof.</a:t>
            </a:r>
            <a:br/>
            <a:r>
              <a:t>Includes diagnoses, medications, national IDs, mental health and HIV status.</a:t>
            </a:r>
          </a:p>
        </p:txBody>
      </p:sp>
      <p:sp>
        <p:nvSpPr>
          <p:cNvPr id="11" name="Rectangle 10"/>
          <p:cNvSpPr/>
          <p:nvPr/>
        </p:nvSpPr>
        <p:spPr>
          <a:xfrm>
            <a:off x="457200" y="3054096"/>
            <a:ext cx="73152" cy="64922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758184"/>
            <a:ext cx="11247120" cy="649224"/>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ANSSI advises: do not pay.</a:t>
            </a:r>
            <a:br/>
            <a:r>
              <a:t>Loi LOPMI (2023): Police report within 72h of payment required for insurance.</a:t>
            </a:r>
          </a:p>
        </p:txBody>
      </p:sp>
      <p:sp>
        <p:nvSpPr>
          <p:cNvPr id="13" name="Rectangle 12"/>
          <p:cNvSpPr/>
          <p:nvPr/>
        </p:nvSpPr>
        <p:spPr>
          <a:xfrm>
            <a:off x="457200" y="3758184"/>
            <a:ext cx="73152" cy="64922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371600" y="4507992"/>
            <a:ext cx="9418320" cy="822959"/>
          </a:xfrm>
          <a:prstGeom prst="rect">
            <a:avLst/>
          </a:prstGeom>
          <a:solidFill>
            <a:srgbClr val="0D2A50"/>
          </a:solidFill>
          <a:ln w="25400">
            <a:solidFill>
              <a:srgbClr val="42A5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600">
                <a:solidFill>
                  <a:srgbClr val="BBDEFB"/>
                </a:solidFill>
                <a:latin typeface="Calibri"/>
              </a:defRPr>
            </a:pPr>
            <a:r>
              <a:t>€2.5 million. 180,000 patients. Mental health records. HIV status.</a:t>
            </a:r>
            <a:br/>
            <a:r>
              <a:t>What do you recommend to the board?</a:t>
            </a:r>
          </a:p>
        </p:txBody>
      </p:sp>
      <p:sp>
        <p:nvSpPr>
          <p:cNvPr id="15" name="TextBox 14"/>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28 / 35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5E20"/>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FFFFFF"/>
                </a:solidFill>
                <a:latin typeface="Calibri"/>
              </a:defRPr>
            </a:pPr>
            <a:r>
              <a:t>PAUSE -- TEAM DISCUSSION</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C8E6C9"/>
                </a:solidFill>
                <a:latin typeface="Calibri"/>
              </a:defRPr>
            </a:pPr>
            <a:r>
              <a:t>This is the hardest decision in the simulation.</a:t>
            </a:r>
          </a:p>
        </p:txBody>
      </p:sp>
      <p:sp>
        <p:nvSpPr>
          <p:cNvPr id="4" name="TextBox 3"/>
          <p:cNvSpPr txBox="1"/>
          <p:nvPr/>
        </p:nvSpPr>
        <p:spPr>
          <a:xfrm>
            <a:off x="1371600" y="1828800"/>
            <a:ext cx="9418320" cy="502920"/>
          </a:xfrm>
          <a:prstGeom prst="rect">
            <a:avLst/>
          </a:prstGeom>
          <a:noFill/>
        </p:spPr>
        <p:txBody>
          <a:bodyPr wrap="square">
            <a:spAutoFit/>
          </a:bodyPr>
          <a:lstStyle/>
          <a:p>
            <a:pPr algn="l">
              <a:defRPr sz="1800" b="0">
                <a:solidFill>
                  <a:srgbClr val="FFFFFF"/>
                </a:solidFill>
                <a:latin typeface="Calibri"/>
              </a:defRPr>
            </a:pPr>
            <a:r>
              <a:t>Pay? Negotiate? Refuse? Escalate?</a:t>
            </a:r>
          </a:p>
        </p:txBody>
      </p:sp>
      <p:sp>
        <p:nvSpPr>
          <p:cNvPr id="5" name="TextBox 4"/>
          <p:cNvSpPr txBox="1"/>
          <p:nvPr/>
        </p:nvSpPr>
        <p:spPr>
          <a:xfrm>
            <a:off x="1371600" y="2423160"/>
            <a:ext cx="9418320" cy="502920"/>
          </a:xfrm>
          <a:prstGeom prst="rect">
            <a:avLst/>
          </a:prstGeom>
          <a:noFill/>
        </p:spPr>
        <p:txBody>
          <a:bodyPr wrap="square">
            <a:spAutoFit/>
          </a:bodyPr>
          <a:lstStyle/>
          <a:p>
            <a:pPr algn="l">
              <a:defRPr sz="1800" b="0">
                <a:solidFill>
                  <a:srgbClr val="FFFFFF"/>
                </a:solidFill>
                <a:latin typeface="Calibri"/>
              </a:defRPr>
            </a:pPr>
            <a:r>
              <a:t>What are the ethical dimensions?</a:t>
            </a:r>
          </a:p>
        </p:txBody>
      </p:sp>
      <p:sp>
        <p:nvSpPr>
          <p:cNvPr id="6" name="TextBox 5"/>
          <p:cNvSpPr txBox="1"/>
          <p:nvPr/>
        </p:nvSpPr>
        <p:spPr>
          <a:xfrm>
            <a:off x="1371600" y="3017520"/>
            <a:ext cx="9418320" cy="502920"/>
          </a:xfrm>
          <a:prstGeom prst="rect">
            <a:avLst/>
          </a:prstGeom>
          <a:noFill/>
        </p:spPr>
        <p:txBody>
          <a:bodyPr wrap="square">
            <a:spAutoFit/>
          </a:bodyPr>
          <a:lstStyle/>
          <a:p>
            <a:pPr algn="l">
              <a:defRPr sz="1800" b="0">
                <a:solidFill>
                  <a:srgbClr val="FFFFFF"/>
                </a:solidFill>
                <a:latin typeface="Calibri"/>
              </a:defRPr>
            </a:pPr>
            <a:r>
              <a:t>Who bears the harm in each scenario?</a:t>
            </a:r>
          </a:p>
        </p:txBody>
      </p:sp>
      <p:sp>
        <p:nvSpPr>
          <p:cNvPr id="7" name="TextBox 6"/>
          <p:cNvSpPr txBox="1"/>
          <p:nvPr/>
        </p:nvSpPr>
        <p:spPr>
          <a:xfrm>
            <a:off x="914400" y="5303520"/>
            <a:ext cx="10332720" cy="365760"/>
          </a:xfrm>
          <a:prstGeom prst="rect">
            <a:avLst/>
          </a:prstGeom>
          <a:noFill/>
        </p:spPr>
        <p:txBody>
          <a:bodyPr wrap="square">
            <a:spAutoFit/>
          </a:bodyPr>
          <a:lstStyle/>
          <a:p>
            <a:pPr algn="ctr">
              <a:defRPr sz="1300" b="0">
                <a:solidFill>
                  <a:srgbClr val="A5D6A7"/>
                </a:solidFill>
                <a:latin typeface="Calibri"/>
              </a:defRPr>
            </a:pPr>
            <a:r>
              <a:t>Discuss thoroughly, then log your decision and reasoning.</a:t>
            </a:r>
          </a:p>
        </p:txBody>
      </p:sp>
      <p:sp>
        <p:nvSpPr>
          <p:cNvPr id="8" name="TextBox 7"/>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29 / 35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E94560"/>
                </a:solidFill>
                <a:latin typeface="Calibri"/>
              </a:defRPr>
            </a:pPr>
            <a:r>
              <a:t>GDPR 72-HOUR NOTIFICATION DEADLINE</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A0A0C0"/>
                </a:solidFill>
                <a:latin typeface="Calibri"/>
              </a:defRPr>
            </a:pPr>
            <a:r>
              <a:t>Hour 58 -- 14 hours remaining</a:t>
            </a:r>
          </a:p>
        </p:txBody>
      </p:sp>
      <p:sp>
        <p:nvSpPr>
          <p:cNvPr id="4" name="Rectangle 3"/>
          <p:cNvSpPr/>
          <p:nvPr/>
        </p:nvSpPr>
        <p:spPr>
          <a:xfrm>
            <a:off x="457200" y="1554480"/>
            <a:ext cx="11247120" cy="649224"/>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GDPR Article 33: Notify CNIL within 72 hours.</a:t>
            </a:r>
            <a:br/>
            <a:r>
              <a:t>Clock started 06:40 Monday. 14 hours remain.</a:t>
            </a:r>
          </a:p>
        </p:txBody>
      </p:sp>
      <p:sp>
        <p:nvSpPr>
          <p:cNvPr id="5" name="Rectangle 4"/>
          <p:cNvSpPr/>
          <p:nvPr/>
        </p:nvSpPr>
        <p:spPr>
          <a:xfrm>
            <a:off x="457200" y="1554480"/>
            <a:ext cx="73152" cy="64922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258568"/>
            <a:ext cx="11247120" cy="167335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400">
                <a:solidFill>
                  <a:srgbClr val="E0E0F0"/>
                </a:solidFill>
                <a:latin typeface="Calibri"/>
              </a:defRPr>
            </a:pPr>
            <a:r>
              <a:t>Forensics:</a:t>
            </a:r>
            <a:br/>
            <a:r>
              <a:t>  - Attackers had access 11 days before encryption</a:t>
            </a:r>
            <a:br/>
            <a:r>
              <a:t>  - Large data transfers confirmed</a:t>
            </a:r>
            <a:br/>
            <a:r>
              <a:t>  - Exact scope: unknown</a:t>
            </a:r>
            <a:br/>
            <a:r>
              <a:t>  - 500-record sample verified genuine</a:t>
            </a:r>
            <a:br/>
            <a:r>
              <a:t>  - Likely includes demographics, diagnoses, meds, labs, mental health records</a:t>
            </a:r>
          </a:p>
        </p:txBody>
      </p:sp>
      <p:sp>
        <p:nvSpPr>
          <p:cNvPr id="7" name="Rectangle 6"/>
          <p:cNvSpPr/>
          <p:nvPr/>
        </p:nvSpPr>
        <p:spPr>
          <a:xfrm>
            <a:off x="457200" y="2258568"/>
            <a:ext cx="73152" cy="167335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71600" y="4032504"/>
            <a:ext cx="9418320" cy="548640"/>
          </a:xfrm>
          <a:prstGeom prst="rect">
            <a:avLst/>
          </a:prstGeom>
          <a:solidFill>
            <a:srgbClr val="0D2A50"/>
          </a:solidFill>
          <a:ln w="25400">
            <a:solidFill>
              <a:srgbClr val="42A5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600">
                <a:solidFill>
                  <a:srgbClr val="BBDEFB"/>
                </a:solidFill>
                <a:latin typeface="Calibri"/>
              </a:defRPr>
            </a:pPr>
            <a:r>
              <a:t>File now with incomplete info? Wait for deadline? Notify patients too?</a:t>
            </a:r>
          </a:p>
        </p:txBody>
      </p:sp>
      <p:sp>
        <p:nvSpPr>
          <p:cNvPr id="9" name="TextBox 8"/>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30 / 35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B5E20"/>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FFFFFF"/>
                </a:solidFill>
                <a:latin typeface="Calibri"/>
              </a:defRPr>
            </a:pPr>
            <a:r>
              <a:t>PAUSE -- TEAM DISCUSSION</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C8E6C9"/>
                </a:solidFill>
                <a:latin typeface="Calibri"/>
              </a:defRPr>
            </a:pPr>
            <a:r>
              <a:t>14 hours. Incomplete information. 180,000 potentially affected patients.</a:t>
            </a:r>
          </a:p>
        </p:txBody>
      </p:sp>
      <p:sp>
        <p:nvSpPr>
          <p:cNvPr id="4" name="TextBox 3"/>
          <p:cNvSpPr txBox="1"/>
          <p:nvPr/>
        </p:nvSpPr>
        <p:spPr>
          <a:xfrm>
            <a:off x="1371600" y="1828800"/>
            <a:ext cx="9418320" cy="502920"/>
          </a:xfrm>
          <a:prstGeom prst="rect">
            <a:avLst/>
          </a:prstGeom>
          <a:noFill/>
        </p:spPr>
        <p:txBody>
          <a:bodyPr wrap="square">
            <a:spAutoFit/>
          </a:bodyPr>
          <a:lstStyle/>
          <a:p>
            <a:pPr algn="l">
              <a:defRPr sz="1800" b="0">
                <a:solidFill>
                  <a:srgbClr val="FFFFFF"/>
                </a:solidFill>
                <a:latin typeface="Calibri"/>
              </a:defRPr>
            </a:pPr>
            <a:r>
              <a:t>File preliminary now? Wait for the deadline?</a:t>
            </a:r>
          </a:p>
        </p:txBody>
      </p:sp>
      <p:sp>
        <p:nvSpPr>
          <p:cNvPr id="5" name="TextBox 4"/>
          <p:cNvSpPr txBox="1"/>
          <p:nvPr/>
        </p:nvSpPr>
        <p:spPr>
          <a:xfrm>
            <a:off x="1371600" y="2423160"/>
            <a:ext cx="9418320" cy="502920"/>
          </a:xfrm>
          <a:prstGeom prst="rect">
            <a:avLst/>
          </a:prstGeom>
          <a:noFill/>
        </p:spPr>
        <p:txBody>
          <a:bodyPr wrap="square">
            <a:spAutoFit/>
          </a:bodyPr>
          <a:lstStyle/>
          <a:p>
            <a:pPr algn="l">
              <a:defRPr sz="1800" b="0">
                <a:solidFill>
                  <a:srgbClr val="FFFFFF"/>
                </a:solidFill>
                <a:latin typeface="Calibri"/>
              </a:defRPr>
            </a:pPr>
            <a:r>
              <a:t>How do you notify 180,000 patients?</a:t>
            </a:r>
          </a:p>
        </p:txBody>
      </p:sp>
      <p:sp>
        <p:nvSpPr>
          <p:cNvPr id="6" name="TextBox 5"/>
          <p:cNvSpPr txBox="1"/>
          <p:nvPr/>
        </p:nvSpPr>
        <p:spPr>
          <a:xfrm>
            <a:off x="1371600" y="3017520"/>
            <a:ext cx="9418320" cy="502920"/>
          </a:xfrm>
          <a:prstGeom prst="rect">
            <a:avLst/>
          </a:prstGeom>
          <a:noFill/>
        </p:spPr>
        <p:txBody>
          <a:bodyPr wrap="square">
            <a:spAutoFit/>
          </a:bodyPr>
          <a:lstStyle/>
          <a:p>
            <a:pPr algn="l">
              <a:defRPr sz="1800" b="0">
                <a:solidFill>
                  <a:srgbClr val="FFFFFF"/>
                </a:solidFill>
                <a:latin typeface="Calibri"/>
              </a:defRPr>
            </a:pPr>
            <a:r>
              <a:t>Consider: elderly patients, mental health stigma, domestic violence survivors.</a:t>
            </a:r>
          </a:p>
        </p:txBody>
      </p:sp>
      <p:sp>
        <p:nvSpPr>
          <p:cNvPr id="7" name="TextBox 6"/>
          <p:cNvSpPr txBox="1"/>
          <p:nvPr/>
        </p:nvSpPr>
        <p:spPr>
          <a:xfrm>
            <a:off x="914400" y="5303520"/>
            <a:ext cx="10332720" cy="365760"/>
          </a:xfrm>
          <a:prstGeom prst="rect">
            <a:avLst/>
          </a:prstGeom>
          <a:noFill/>
        </p:spPr>
        <p:txBody>
          <a:bodyPr wrap="square">
            <a:spAutoFit/>
          </a:bodyPr>
          <a:lstStyle/>
          <a:p>
            <a:pPr algn="ctr">
              <a:defRPr sz="1300" b="0">
                <a:solidFill>
                  <a:srgbClr val="A5D6A7"/>
                </a:solidFill>
                <a:latin typeface="Calibri"/>
              </a:defRPr>
            </a:pPr>
            <a:r>
              <a:t>Discuss, then log your decision.</a:t>
            </a:r>
          </a:p>
        </p:txBody>
      </p:sp>
      <p:sp>
        <p:nvSpPr>
          <p:cNvPr id="8" name="TextBox 7"/>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31 / 35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E94560"/>
                </a:solidFill>
                <a:latin typeface="Calibri"/>
              </a:defRPr>
            </a:pPr>
            <a:r>
              <a:t>SYSTEM RESTORATION STRATEGY</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A0A0C0"/>
                </a:solidFill>
                <a:latin typeface="Calibri"/>
              </a:defRPr>
            </a:pPr>
            <a:r>
              <a:t>Hour 64</a:t>
            </a:r>
          </a:p>
        </p:txBody>
      </p:sp>
      <p:sp>
        <p:nvSpPr>
          <p:cNvPr id="4" name="Rectangle 3"/>
          <p:cNvSpPr/>
          <p:nvPr/>
        </p:nvSpPr>
        <p:spPr>
          <a:xfrm>
            <a:off x="731520" y="1554480"/>
            <a:ext cx="10698480" cy="53035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300">
                <a:solidFill>
                  <a:srgbClr val="E0E0F0"/>
                </a:solidFill>
                <a:latin typeface="Calibri"/>
              </a:defRPr>
            </a:pPr>
            <a:r>
              <a:t>Option A: 48-hour backup: EHR in 12-18h. Loses pre-breach + downtime data. Clean. Back-entry: 3-4 weeks.</a:t>
            </a:r>
          </a:p>
        </p:txBody>
      </p:sp>
      <p:sp>
        <p:nvSpPr>
          <p:cNvPr id="5" name="Rectangle 4"/>
          <p:cNvSpPr/>
          <p:nvPr/>
        </p:nvSpPr>
        <p:spPr>
          <a:xfrm>
            <a:off x="731520" y="1554480"/>
            <a:ext cx="73152" cy="530352"/>
          </a:xfrm>
          <a:prstGeom prst="rect">
            <a:avLst/>
          </a:prstGeom>
          <a:solidFill>
            <a:srgbClr val="42A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139696"/>
            <a:ext cx="10698480" cy="53035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300">
                <a:solidFill>
                  <a:srgbClr val="E0E0F0"/>
                </a:solidFill>
                <a:latin typeface="Calibri"/>
              </a:defRPr>
            </a:pPr>
            <a:r>
              <a:t>Option B: Decrypt &amp; clean: 5-10 more days. Preserves data. 15-20% reinfection risk. Forensics recommends against.</a:t>
            </a:r>
          </a:p>
        </p:txBody>
      </p:sp>
      <p:sp>
        <p:nvSpPr>
          <p:cNvPr id="7" name="Rectangle 6"/>
          <p:cNvSpPr/>
          <p:nvPr/>
        </p:nvSpPr>
        <p:spPr>
          <a:xfrm>
            <a:off x="731520" y="2139696"/>
            <a:ext cx="73152" cy="530352"/>
          </a:xfrm>
          <a:prstGeom prst="rect">
            <a:avLst/>
          </a:prstGeom>
          <a:solidFill>
            <a:srgbClr val="FFA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724912"/>
            <a:ext cx="10698480" cy="53035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300">
                <a:solidFill>
                  <a:srgbClr val="E0E0F0"/>
                </a:solidFill>
                <a:latin typeface="Calibri"/>
              </a:defRPr>
            </a:pPr>
            <a:r>
              <a:t>Option C: New clean instance: 24-36h. Zero risk. Requires manual entry of ALL active patient data.</a:t>
            </a:r>
          </a:p>
        </p:txBody>
      </p:sp>
      <p:sp>
        <p:nvSpPr>
          <p:cNvPr id="9" name="Rectangle 8"/>
          <p:cNvSpPr/>
          <p:nvPr/>
        </p:nvSpPr>
        <p:spPr>
          <a:xfrm>
            <a:off x="731520" y="2724912"/>
            <a:ext cx="73152" cy="530352"/>
          </a:xfrm>
          <a:prstGeom prst="rect">
            <a:avLst/>
          </a:prstGeom>
          <a:solidFill>
            <a:srgbClr val="42A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310128"/>
            <a:ext cx="10698480" cy="1042416"/>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600"/>
              </a:spcBef>
              <a:defRPr sz="1300">
                <a:solidFill>
                  <a:srgbClr val="E0E0F0"/>
                </a:solidFill>
                <a:latin typeface="Calibri"/>
              </a:defRPr>
            </a:pPr>
            <a:r>
              <a:t>Option D: Hybrid: Phase 1 (24h): clean instance for active patients.</a:t>
            </a:r>
            <a:br/>
            <a:r>
              <a:t>Phase 2 (1 week): restore backup.</a:t>
            </a:r>
            <a:br/>
            <a:r>
              <a:t>Phase 3 (2-4 weeks): merge &amp; reconcile.</a:t>
            </a:r>
          </a:p>
        </p:txBody>
      </p:sp>
      <p:sp>
        <p:nvSpPr>
          <p:cNvPr id="11" name="Rectangle 10"/>
          <p:cNvSpPr/>
          <p:nvPr/>
        </p:nvSpPr>
        <p:spPr>
          <a:xfrm>
            <a:off x="731520" y="3310128"/>
            <a:ext cx="73152" cy="1042416"/>
          </a:xfrm>
          <a:prstGeom prst="rect">
            <a:avLst/>
          </a:prstGeom>
          <a:solidFill>
            <a:srgbClr val="AB47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371600" y="4453128"/>
            <a:ext cx="9418320" cy="548640"/>
          </a:xfrm>
          <a:prstGeom prst="rect">
            <a:avLst/>
          </a:prstGeom>
          <a:solidFill>
            <a:srgbClr val="0D2A50"/>
          </a:solidFill>
          <a:ln w="25400">
            <a:solidFill>
              <a:srgbClr val="42A5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600">
                <a:solidFill>
                  <a:srgbClr val="BBDEFB"/>
                </a:solidFill>
                <a:latin typeface="Calibri"/>
              </a:defRPr>
            </a:pPr>
            <a:r>
              <a:t>Speed vs. data preservation vs. security. Who decides?</a:t>
            </a:r>
          </a:p>
        </p:txBody>
      </p:sp>
      <p:sp>
        <p:nvSpPr>
          <p:cNvPr id="13" name="TextBox 12"/>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32 / 35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B5E20"/>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FFFFFF"/>
                </a:solidFill>
                <a:latin typeface="Calibri"/>
              </a:defRPr>
            </a:pPr>
            <a:r>
              <a:t>PAUSE -- FINAL TEAM DISCUSSION</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C8E6C9"/>
                </a:solidFill>
                <a:latin typeface="Calibri"/>
              </a:defRPr>
            </a:pPr>
            <a:r>
              <a:t>Four options. Each has costs. Each has risks.</a:t>
            </a:r>
          </a:p>
        </p:txBody>
      </p:sp>
      <p:sp>
        <p:nvSpPr>
          <p:cNvPr id="4" name="TextBox 3"/>
          <p:cNvSpPr txBox="1"/>
          <p:nvPr/>
        </p:nvSpPr>
        <p:spPr>
          <a:xfrm>
            <a:off x="1371600" y="1828800"/>
            <a:ext cx="9418320" cy="502920"/>
          </a:xfrm>
          <a:prstGeom prst="rect">
            <a:avLst/>
          </a:prstGeom>
          <a:noFill/>
        </p:spPr>
        <p:txBody>
          <a:bodyPr wrap="square">
            <a:spAutoFit/>
          </a:bodyPr>
          <a:lstStyle/>
          <a:p>
            <a:pPr algn="l">
              <a:defRPr sz="1800" b="0">
                <a:solidFill>
                  <a:srgbClr val="FFFFFF"/>
                </a:solidFill>
                <a:latin typeface="Calibri"/>
              </a:defRPr>
            </a:pPr>
            <a:r>
              <a:t>Which path? Technical decision? Clinical? Financial? Data integrity?</a:t>
            </a:r>
          </a:p>
        </p:txBody>
      </p:sp>
      <p:sp>
        <p:nvSpPr>
          <p:cNvPr id="5" name="TextBox 4"/>
          <p:cNvSpPr txBox="1"/>
          <p:nvPr/>
        </p:nvSpPr>
        <p:spPr>
          <a:xfrm>
            <a:off x="1371600" y="2423160"/>
            <a:ext cx="9418320" cy="502920"/>
          </a:xfrm>
          <a:prstGeom prst="rect">
            <a:avLst/>
          </a:prstGeom>
          <a:noFill/>
        </p:spPr>
        <p:txBody>
          <a:bodyPr wrap="square">
            <a:spAutoFit/>
          </a:bodyPr>
          <a:lstStyle/>
          <a:p>
            <a:pPr algn="l">
              <a:defRPr sz="1800" b="0">
                <a:solidFill>
                  <a:srgbClr val="FFFFFF"/>
                </a:solidFill>
                <a:latin typeface="Calibri"/>
              </a:defRPr>
            </a:pPr>
            <a:r>
              <a:t>Who has the final say?</a:t>
            </a:r>
          </a:p>
        </p:txBody>
      </p:sp>
      <p:sp>
        <p:nvSpPr>
          <p:cNvPr id="6" name="TextBox 5"/>
          <p:cNvSpPr txBox="1"/>
          <p:nvPr/>
        </p:nvSpPr>
        <p:spPr>
          <a:xfrm>
            <a:off x="914400" y="5303520"/>
            <a:ext cx="10332720" cy="365760"/>
          </a:xfrm>
          <a:prstGeom prst="rect">
            <a:avLst/>
          </a:prstGeom>
          <a:noFill/>
        </p:spPr>
        <p:txBody>
          <a:bodyPr wrap="square">
            <a:spAutoFit/>
          </a:bodyPr>
          <a:lstStyle/>
          <a:p>
            <a:pPr algn="ctr">
              <a:defRPr sz="1300" b="0">
                <a:solidFill>
                  <a:srgbClr val="A5D6A7"/>
                </a:solidFill>
                <a:latin typeface="Calibri"/>
              </a:defRPr>
            </a:pPr>
            <a:r>
              <a:t>Discuss, then log your final decision.</a:t>
            </a:r>
          </a:p>
        </p:txBody>
      </p:sp>
      <p:sp>
        <p:nvSpPr>
          <p:cNvPr id="7" name="TextBox 6"/>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33 / 35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E94560"/>
                </a:solidFill>
                <a:latin typeface="Calibri"/>
              </a:defRPr>
            </a:pPr>
            <a:r>
              <a:t>RECOVERY PLANNING</a:t>
            </a:r>
          </a:p>
        </p:txBody>
      </p:sp>
      <p:sp>
        <p:nvSpPr>
          <p:cNvPr id="3" name="TextBox 2"/>
          <p:cNvSpPr txBox="1"/>
          <p:nvPr/>
        </p:nvSpPr>
        <p:spPr>
          <a:xfrm>
            <a:off x="457200" y="1005840"/>
            <a:ext cx="11247120" cy="457200"/>
          </a:xfrm>
          <a:prstGeom prst="rect">
            <a:avLst/>
          </a:prstGeom>
          <a:noFill/>
        </p:spPr>
        <p:txBody>
          <a:bodyPr wrap="square">
            <a:spAutoFit/>
          </a:bodyPr>
          <a:lstStyle/>
          <a:p>
            <a:pPr algn="ctr">
              <a:defRPr sz="1600" b="0">
                <a:solidFill>
                  <a:srgbClr val="A0A0C0"/>
                </a:solidFill>
                <a:latin typeface="Calibri"/>
              </a:defRPr>
            </a:pPr>
            <a:r>
              <a:t>Thursday -- Hour 72+  |  Day 4</a:t>
            </a:r>
          </a:p>
        </p:txBody>
      </p:sp>
      <p:sp>
        <p:nvSpPr>
          <p:cNvPr id="4" name="Rectangle 3"/>
          <p:cNvSpPr/>
          <p:nvPr/>
        </p:nvSpPr>
        <p:spPr>
          <a:xfrm>
            <a:off x="457200" y="1554480"/>
            <a:ext cx="2194560" cy="45720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EHR (DPI)  [DEGRADED]</a:t>
            </a:r>
          </a:p>
        </p:txBody>
      </p:sp>
      <p:sp>
        <p:nvSpPr>
          <p:cNvPr id="5" name="Rectangle 4"/>
          <p:cNvSpPr/>
          <p:nvPr/>
        </p:nvSpPr>
        <p:spPr>
          <a:xfrm>
            <a:off x="2743200" y="1554480"/>
            <a:ext cx="2194560" cy="45720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Lab (LIS)  [DEGRADED]</a:t>
            </a:r>
          </a:p>
        </p:txBody>
      </p:sp>
      <p:sp>
        <p:nvSpPr>
          <p:cNvPr id="6" name="Rectangle 5"/>
          <p:cNvSpPr/>
          <p:nvPr/>
        </p:nvSpPr>
        <p:spPr>
          <a:xfrm>
            <a:off x="5029200" y="1554480"/>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PACS  [DOWN]</a:t>
            </a:r>
          </a:p>
        </p:txBody>
      </p:sp>
      <p:sp>
        <p:nvSpPr>
          <p:cNvPr id="7" name="Rectangle 6"/>
          <p:cNvSpPr/>
          <p:nvPr/>
        </p:nvSpPr>
        <p:spPr>
          <a:xfrm>
            <a:off x="7315200" y="1554480"/>
            <a:ext cx="2194560" cy="45720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Pharmacy  [DEGRADED]</a:t>
            </a:r>
          </a:p>
        </p:txBody>
      </p:sp>
      <p:sp>
        <p:nvSpPr>
          <p:cNvPr id="8" name="Rectangle 7"/>
          <p:cNvSpPr/>
          <p:nvPr/>
        </p:nvSpPr>
        <p:spPr>
          <a:xfrm>
            <a:off x="9601200" y="1554480"/>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Patient Portal  [DOWN]</a:t>
            </a:r>
          </a:p>
        </p:txBody>
      </p:sp>
      <p:sp>
        <p:nvSpPr>
          <p:cNvPr id="9" name="Rectangle 8"/>
          <p:cNvSpPr/>
          <p:nvPr/>
        </p:nvSpPr>
        <p:spPr>
          <a:xfrm>
            <a:off x="457200" y="2084832"/>
            <a:ext cx="2194560" cy="4572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Email</a:t>
            </a:r>
          </a:p>
        </p:txBody>
      </p:sp>
      <p:sp>
        <p:nvSpPr>
          <p:cNvPr id="10" name="Rectangle 9"/>
          <p:cNvSpPr/>
          <p:nvPr/>
        </p:nvSpPr>
        <p:spPr>
          <a:xfrm>
            <a:off x="2743200" y="2084832"/>
            <a:ext cx="2194560" cy="45720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Scheduling  [DEGRADED]</a:t>
            </a:r>
          </a:p>
        </p:txBody>
      </p:sp>
      <p:sp>
        <p:nvSpPr>
          <p:cNvPr id="11" name="Rectangle 10"/>
          <p:cNvSpPr/>
          <p:nvPr/>
        </p:nvSpPr>
        <p:spPr>
          <a:xfrm>
            <a:off x="5029200" y="2084832"/>
            <a:ext cx="219456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Billing  [DOWN]</a:t>
            </a:r>
          </a:p>
        </p:txBody>
      </p:sp>
      <p:sp>
        <p:nvSpPr>
          <p:cNvPr id="12" name="Rectangle 11"/>
          <p:cNvSpPr/>
          <p:nvPr/>
        </p:nvSpPr>
        <p:spPr>
          <a:xfrm>
            <a:off x="7315200" y="2084832"/>
            <a:ext cx="2194560" cy="4572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Nurse Call</a:t>
            </a:r>
          </a:p>
        </p:txBody>
      </p:sp>
      <p:sp>
        <p:nvSpPr>
          <p:cNvPr id="13" name="Rectangle 12"/>
          <p:cNvSpPr/>
          <p:nvPr/>
        </p:nvSpPr>
        <p:spPr>
          <a:xfrm>
            <a:off x="9601200" y="2084832"/>
            <a:ext cx="2194560" cy="4572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100" b="1">
                <a:solidFill>
                  <a:srgbClr val="FFFFFF"/>
                </a:solidFill>
                <a:latin typeface="Calibri"/>
              </a:defRPr>
            </a:pPr>
            <a:r>
              <a:t>Badge Access</a:t>
            </a:r>
          </a:p>
        </p:txBody>
      </p:sp>
      <p:sp>
        <p:nvSpPr>
          <p:cNvPr id="14" name="TextBox 13"/>
          <p:cNvSpPr txBox="1"/>
          <p:nvPr/>
        </p:nvSpPr>
        <p:spPr>
          <a:xfrm>
            <a:off x="914400" y="2706624"/>
            <a:ext cx="10332720" cy="365760"/>
          </a:xfrm>
          <a:prstGeom prst="rect">
            <a:avLst/>
          </a:prstGeom>
          <a:noFill/>
        </p:spPr>
        <p:txBody>
          <a:bodyPr wrap="square">
            <a:spAutoFit/>
          </a:bodyPr>
          <a:lstStyle/>
          <a:p>
            <a:pPr algn="ctr">
              <a:defRPr sz="1800" b="0">
                <a:solidFill>
                  <a:srgbClr val="E0E0F0"/>
                </a:solidFill>
                <a:latin typeface="Calibri"/>
              </a:defRPr>
            </a:pPr>
            <a:r>
              <a:t>Partial systems restoration in progress.</a:t>
            </a:r>
          </a:p>
        </p:txBody>
      </p:sp>
      <p:sp>
        <p:nvSpPr>
          <p:cNvPr id="15" name="TextBox 14"/>
          <p:cNvSpPr txBox="1"/>
          <p:nvPr/>
        </p:nvSpPr>
        <p:spPr>
          <a:xfrm>
            <a:off x="914400" y="3300984"/>
            <a:ext cx="10332720" cy="411480"/>
          </a:xfrm>
          <a:prstGeom prst="rect">
            <a:avLst/>
          </a:prstGeom>
          <a:noFill/>
        </p:spPr>
        <p:txBody>
          <a:bodyPr wrap="square">
            <a:spAutoFit/>
          </a:bodyPr>
          <a:lstStyle/>
          <a:p>
            <a:pPr algn="ctr">
              <a:defRPr sz="2000" b="1">
                <a:solidFill>
                  <a:srgbClr val="E0E0F0"/>
                </a:solidFill>
                <a:latin typeface="Calibri"/>
              </a:defRPr>
            </a:pPr>
            <a:r>
              <a:t>The systems will come back in days.</a:t>
            </a:r>
          </a:p>
        </p:txBody>
      </p:sp>
      <p:sp>
        <p:nvSpPr>
          <p:cNvPr id="16" name="TextBox 15"/>
          <p:cNvSpPr txBox="1"/>
          <p:nvPr/>
        </p:nvSpPr>
        <p:spPr>
          <a:xfrm>
            <a:off x="914400" y="3758184"/>
            <a:ext cx="10332720" cy="411480"/>
          </a:xfrm>
          <a:prstGeom prst="rect">
            <a:avLst/>
          </a:prstGeom>
          <a:noFill/>
        </p:spPr>
        <p:txBody>
          <a:bodyPr wrap="square">
            <a:spAutoFit/>
          </a:bodyPr>
          <a:lstStyle/>
          <a:p>
            <a:pPr algn="ctr">
              <a:defRPr sz="2000" b="1">
                <a:solidFill>
                  <a:srgbClr val="E0E0F0"/>
                </a:solidFill>
                <a:latin typeface="Calibri"/>
              </a:defRPr>
            </a:pPr>
            <a:r>
              <a:t>The trust takes months.</a:t>
            </a:r>
          </a:p>
        </p:txBody>
      </p:sp>
      <p:sp>
        <p:nvSpPr>
          <p:cNvPr id="17" name="TextBox 16"/>
          <p:cNvSpPr txBox="1"/>
          <p:nvPr/>
        </p:nvSpPr>
        <p:spPr>
          <a:xfrm>
            <a:off x="914400" y="4215384"/>
            <a:ext cx="10332720" cy="411480"/>
          </a:xfrm>
          <a:prstGeom prst="rect">
            <a:avLst/>
          </a:prstGeom>
          <a:noFill/>
        </p:spPr>
        <p:txBody>
          <a:bodyPr wrap="square">
            <a:spAutoFit/>
          </a:bodyPr>
          <a:lstStyle/>
          <a:p>
            <a:pPr algn="ctr">
              <a:defRPr sz="2000" b="1">
                <a:solidFill>
                  <a:srgbClr val="E0E0F0"/>
                </a:solidFill>
                <a:latin typeface="Calibri"/>
              </a:defRPr>
            </a:pPr>
            <a:r>
              <a:t>The lessons last careers.</a:t>
            </a:r>
          </a:p>
        </p:txBody>
      </p:sp>
      <p:sp>
        <p:nvSpPr>
          <p:cNvPr id="18" name="Rectangle 17"/>
          <p:cNvSpPr/>
          <p:nvPr/>
        </p:nvSpPr>
        <p:spPr>
          <a:xfrm>
            <a:off x="1371600" y="4764024"/>
            <a:ext cx="9418320" cy="822959"/>
          </a:xfrm>
          <a:prstGeom prst="rect">
            <a:avLst/>
          </a:prstGeom>
          <a:solidFill>
            <a:srgbClr val="0D2A50"/>
          </a:solidFill>
          <a:ln w="25400">
            <a:solidFill>
              <a:srgbClr val="42A5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600">
                <a:solidFill>
                  <a:srgbClr val="BBDEFB"/>
                </a:solidFill>
                <a:latin typeface="Calibri"/>
              </a:defRPr>
            </a:pPr>
            <a:r>
              <a:t>In your student app: complete Recovery Planning.</a:t>
            </a:r>
            <a:br/>
            <a:r>
              <a:t>Prioritize back-entry. Plan trust recovery. Assess preparedness. Write your after-action summary.</a:t>
            </a:r>
          </a:p>
        </p:txBody>
      </p:sp>
      <p:sp>
        <p:nvSpPr>
          <p:cNvPr id="19" name="TextBox 18"/>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34 / 35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200" b="1">
                <a:solidFill>
                  <a:srgbClr val="4CAF50"/>
                </a:solidFill>
                <a:latin typeface="Calibri"/>
              </a:defRPr>
            </a:pPr>
            <a:r>
              <a:t>END OF SIMULATION</a:t>
            </a:r>
          </a:p>
        </p:txBody>
      </p:sp>
      <p:sp>
        <p:nvSpPr>
          <p:cNvPr id="3" name="TextBox 2"/>
          <p:cNvSpPr txBox="1"/>
          <p:nvPr/>
        </p:nvSpPr>
        <p:spPr>
          <a:xfrm>
            <a:off x="1371600" y="2286000"/>
            <a:ext cx="9418320" cy="2743200"/>
          </a:xfrm>
          <a:prstGeom prst="rect">
            <a:avLst/>
          </a:prstGeom>
          <a:noFill/>
        </p:spPr>
        <p:txBody>
          <a:bodyPr wrap="square">
            <a:spAutoFit/>
          </a:bodyPr>
          <a:lstStyle/>
          <a:p>
            <a:pPr algn="ctr">
              <a:spcAft>
                <a:spcPts val="720"/>
              </a:spcAft>
              <a:defRPr sz="1800" b="0">
                <a:solidFill>
                  <a:srgbClr val="A0A0C0"/>
                </a:solidFill>
                <a:latin typeface="Calibri"/>
              </a:defRPr>
            </a:pPr>
            <a:r>
              <a:t>Thank you for your work. The 2-hour debrief will follow.</a:t>
            </a:r>
          </a:p>
          <a:p>
            <a:pPr algn="ctr">
              <a:spcAft>
                <a:spcPts val="720"/>
              </a:spcAft>
              <a:defRPr sz="1800" b="0">
                <a:solidFill>
                  <a:srgbClr val="A0A0C0"/>
                </a:solidFill>
                <a:latin typeface="Calibri"/>
              </a:defRPr>
            </a:pPr>
          </a:p>
          <a:p>
            <a:pPr algn="ctr">
              <a:spcAft>
                <a:spcPts val="720"/>
              </a:spcAft>
              <a:defRPr sz="1800" b="0">
                <a:solidFill>
                  <a:srgbClr val="A0A0C0"/>
                </a:solidFill>
                <a:latin typeface="Calibri"/>
              </a:defRPr>
            </a:pPr>
            <a:r>
              <a:t>Export your team reports from the student app.</a:t>
            </a:r>
          </a:p>
          <a:p>
            <a:pPr algn="ctr">
              <a:spcAft>
                <a:spcPts val="720"/>
              </a:spcAft>
              <a:defRPr sz="1800" b="0">
                <a:solidFill>
                  <a:srgbClr val="A0A0C0"/>
                </a:solidFill>
                <a:latin typeface="Calibri"/>
              </a:defRPr>
            </a:pPr>
            <a:r>
              <a:t>Prepare to share your most difficult decision and what you learned.</a:t>
            </a:r>
          </a:p>
        </p:txBody>
      </p:sp>
      <p:sp>
        <p:nvSpPr>
          <p:cNvPr id="4" name="TextBox 3"/>
          <p:cNvSpPr txBox="1"/>
          <p:nvPr/>
        </p:nvSpPr>
        <p:spPr>
          <a:xfrm>
            <a:off x="10972800" y="6446520"/>
            <a:ext cx="1097280" cy="320040"/>
          </a:xfrm>
          <a:prstGeom prst="rect">
            <a:avLst/>
          </a:prstGeom>
          <a:noFill/>
        </p:spPr>
        <p:txBody>
          <a:bodyPr wrap="square">
            <a:spAutoFit/>
          </a:bodyPr>
          <a:lstStyle/>
          <a:p>
            <a:pPr algn="r">
              <a:defRPr sz="1000" b="0">
                <a:solidFill>
                  <a:srgbClr val="A0A0C0"/>
                </a:solidFill>
                <a:latin typeface="Calibri"/>
              </a:defRPr>
            </a:pPr>
            <a:r>
              <a:t>Slide 35 / 35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